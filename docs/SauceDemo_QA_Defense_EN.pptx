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hckbPkFkuQBAiP00NLUfLuXr5N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E8F449-3ECA-411C-8EBB-F13C8BF71A22}">
  <a:tblStyle styleId="{46E8F449-3ECA-411C-8EBB-F13C8BF71A2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16.png"/><Relationship Id="rId6"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9326880" y="-1463040"/>
            <a:ext cx="4572000" cy="4572000"/>
          </a:xfrm>
          <a:prstGeom prst="ellipse">
            <a:avLst/>
          </a:prstGeom>
          <a:solidFill>
            <a:srgbClr val="2637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1280160" y="4572000"/>
            <a:ext cx="3657600" cy="3657600"/>
          </a:xfrm>
          <a:prstGeom prst="ellipse">
            <a:avLst/>
          </a:prstGeom>
          <a:solidFill>
            <a:srgbClr val="1820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22960" y="914400"/>
            <a:ext cx="960120" cy="960120"/>
          </a:xfrm>
          <a:prstGeom prst="ellipse">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flag_1E2761.png" id="19" name="Google Shape;19;p1"/>
          <p:cNvPicPr preferRelativeResize="0"/>
          <p:nvPr/>
        </p:nvPicPr>
        <p:blipFill rotWithShape="1">
          <a:blip r:embed="rId3">
            <a:alphaModFix/>
          </a:blip>
          <a:srcRect b="0" l="0" r="0" t="0"/>
          <a:stretch/>
        </p:blipFill>
        <p:spPr>
          <a:xfrm>
            <a:off x="1072591" y="1164031"/>
            <a:ext cx="460858" cy="460858"/>
          </a:xfrm>
          <a:prstGeom prst="rect">
            <a:avLst/>
          </a:prstGeom>
          <a:noFill/>
          <a:ln>
            <a:noFill/>
          </a:ln>
        </p:spPr>
      </p:pic>
      <p:sp>
        <p:nvSpPr>
          <p:cNvPr id="20" name="Google Shape;20;p1"/>
          <p:cNvSpPr/>
          <p:nvPr/>
        </p:nvSpPr>
        <p:spPr>
          <a:xfrm>
            <a:off x="822960" y="2148840"/>
            <a:ext cx="10241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QA AUTOMATION FRAMEWORK</a:t>
            </a:r>
            <a:endParaRPr b="0" i="0" sz="1400" u="none" cap="none" strike="noStrike">
              <a:solidFill>
                <a:schemeClr val="dk1"/>
              </a:solidFill>
              <a:latin typeface="Calibri"/>
              <a:ea typeface="Calibri"/>
              <a:cs typeface="Calibri"/>
              <a:sym typeface="Calibri"/>
            </a:endParaRPr>
          </a:p>
        </p:txBody>
      </p:sp>
      <p:sp>
        <p:nvSpPr>
          <p:cNvPr id="21" name="Google Shape;21;p1"/>
          <p:cNvSpPr/>
          <p:nvPr/>
        </p:nvSpPr>
        <p:spPr>
          <a:xfrm>
            <a:off x="822960" y="2514600"/>
            <a:ext cx="1051560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SauceDemo E-commerce</a:t>
            </a:r>
            <a:endParaRPr b="0" i="0" sz="4600" u="none" cap="none" strike="noStrike">
              <a:solidFill>
                <a:schemeClr val="dk1"/>
              </a:solidFill>
              <a:latin typeface="Calibri"/>
              <a:ea typeface="Calibri"/>
              <a:cs typeface="Calibri"/>
              <a:sym typeface="Calibri"/>
            </a:endParaRPr>
          </a:p>
        </p:txBody>
      </p:sp>
      <p:sp>
        <p:nvSpPr>
          <p:cNvPr id="22" name="Google Shape;22;p1"/>
          <p:cNvSpPr/>
          <p:nvPr/>
        </p:nvSpPr>
        <p:spPr>
          <a:xfrm>
            <a:off x="822960" y="3520440"/>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800"/>
              <a:buFont typeface="Calibri"/>
              <a:buNone/>
            </a:pPr>
            <a:r>
              <a:rPr b="0" i="1" lang="en-US" sz="1800" u="none" cap="none" strike="noStrike">
                <a:solidFill>
                  <a:srgbClr val="CADCFC"/>
                </a:solidFill>
                <a:latin typeface="Calibri"/>
                <a:ea typeface="Calibri"/>
                <a:cs typeface="Calibri"/>
                <a:sym typeface="Calibri"/>
              </a:rPr>
              <a:t>Playwright + TypeScript + POM + AI applied to QA</a:t>
            </a:r>
            <a:endParaRPr b="0" i="0" sz="1800" u="none" cap="none" strike="noStrike">
              <a:solidFill>
                <a:schemeClr val="dk1"/>
              </a:solidFill>
              <a:latin typeface="Calibri"/>
              <a:ea typeface="Calibri"/>
              <a:cs typeface="Calibri"/>
              <a:sym typeface="Calibri"/>
            </a:endParaRPr>
          </a:p>
        </p:txBody>
      </p:sp>
      <p:cxnSp>
        <p:nvCxnSpPr>
          <p:cNvPr id="23" name="Google Shape;23;p1"/>
          <p:cNvCxnSpPr/>
          <p:nvPr/>
        </p:nvCxnSpPr>
        <p:spPr>
          <a:xfrm>
            <a:off x="822960" y="4206240"/>
            <a:ext cx="3108960" cy="0"/>
          </a:xfrm>
          <a:prstGeom prst="straightConnector1">
            <a:avLst/>
          </a:prstGeom>
          <a:noFill/>
          <a:ln cap="flat" cmpd="sng" w="12700">
            <a:solidFill>
              <a:srgbClr val="3A4A8F"/>
            </a:solidFill>
            <a:prstDash val="solid"/>
            <a:round/>
            <a:headEnd len="sm" w="sm" type="none"/>
            <a:tailEnd len="sm" w="sm" type="none"/>
          </a:ln>
        </p:spPr>
      </p:cxnSp>
      <p:sp>
        <p:nvSpPr>
          <p:cNvPr id="24" name="Google Shape;24;p1"/>
          <p:cNvSpPr/>
          <p:nvPr/>
        </p:nvSpPr>
        <p:spPr>
          <a:xfrm>
            <a:off x="822960" y="44348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Technical defense for the client   </a:t>
            </a:r>
            <a:r>
              <a:rPr b="0" i="0" lang="en-US" sz="1400" u="none" cap="none" strike="noStrike">
                <a:solidFill>
                  <a:srgbClr val="CADCFC"/>
                </a:solidFill>
                <a:latin typeface="Calibri"/>
                <a:ea typeface="Calibri"/>
                <a:cs typeface="Calibri"/>
                <a:sym typeface="Calibri"/>
              </a:rPr>
              <a:t>·   July 27, 2026</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9" name="Shape 29"/>
        <p:cNvGrpSpPr/>
        <p:nvPr/>
      </p:nvGrpSpPr>
      <p:grpSpPr>
        <a:xfrm>
          <a:off x="0" y="0"/>
          <a:ext cx="0" cy="0"/>
          <a:chOff x="0" y="0"/>
          <a:chExt cx="0" cy="0"/>
        </a:xfrm>
      </p:grpSpPr>
      <p:sp>
        <p:nvSpPr>
          <p:cNvPr id="30" name="Google Shape;30;p2"/>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990011"/>
                </a:solidFill>
                <a:latin typeface="Calibri"/>
                <a:ea typeface="Calibri"/>
                <a:cs typeface="Calibri"/>
                <a:sym typeface="Calibri"/>
              </a:rPr>
              <a:t>CONTEXT</a:t>
            </a:r>
            <a:endParaRPr b="0" i="0" sz="1300" u="none" cap="none" strike="noStrike">
              <a:solidFill>
                <a:schemeClr val="dk1"/>
              </a:solidFill>
              <a:latin typeface="Calibri"/>
              <a:ea typeface="Calibri"/>
              <a:cs typeface="Calibri"/>
              <a:sym typeface="Calibri"/>
            </a:endParaRPr>
          </a:p>
        </p:txBody>
      </p:sp>
      <p:sp>
        <p:nvSpPr>
          <p:cNvPr id="31" name="Google Shape;31;p2"/>
          <p:cNvSpPr/>
          <p:nvPr/>
        </p:nvSpPr>
        <p:spPr>
          <a:xfrm>
            <a:off x="548640" y="65836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An e-commerce client with three concrete pains</a:t>
            </a:r>
            <a:endParaRPr b="0" i="0" sz="3000" u="none" cap="none" strike="noStrike">
              <a:solidFill>
                <a:schemeClr val="dk1"/>
              </a:solidFill>
              <a:latin typeface="Calibri"/>
              <a:ea typeface="Calibri"/>
              <a:cs typeface="Calibri"/>
              <a:sym typeface="Calibri"/>
            </a:endParaRPr>
          </a:p>
        </p:txBody>
      </p:sp>
      <p:sp>
        <p:nvSpPr>
          <p:cNvPr id="32" name="Google Shape;32;p2"/>
          <p:cNvSpPr/>
          <p:nvPr/>
        </p:nvSpPr>
        <p:spPr>
          <a:xfrm>
            <a:off x="548640" y="1371600"/>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They're about to launch a new version of their platform and need confidence in the release process.</a:t>
            </a:r>
            <a:endParaRPr b="0" i="0" sz="1500" u="none" cap="none" strike="noStrike">
              <a:solidFill>
                <a:schemeClr val="dk1"/>
              </a:solidFill>
              <a:latin typeface="Calibri"/>
              <a:ea typeface="Calibri"/>
              <a:cs typeface="Calibri"/>
              <a:sym typeface="Calibri"/>
            </a:endParaRPr>
          </a:p>
        </p:txBody>
      </p:sp>
      <p:sp>
        <p:nvSpPr>
          <p:cNvPr id="33" name="Google Shape;33;p2"/>
          <p:cNvSpPr/>
          <p:nvPr/>
        </p:nvSpPr>
        <p:spPr>
          <a:xfrm>
            <a:off x="548640" y="2331720"/>
            <a:ext cx="3337560" cy="3017520"/>
          </a:xfrm>
          <a:prstGeom prst="roundRect">
            <a:avLst>
              <a:gd fmla="val 2424" name="adj"/>
            </a:avLst>
          </a:prstGeom>
          <a:solidFill>
            <a:srgbClr val="FFFFFF"/>
          </a:solidFill>
          <a:ln cap="flat" cmpd="sng" w="12700">
            <a:solidFill>
              <a:srgbClr val="E1E7F5"/>
            </a:solidFill>
            <a:prstDash val="solid"/>
            <a:round/>
            <a:headEnd len="sm" w="sm" type="none"/>
            <a:tailEnd len="sm" w="sm" type="none"/>
          </a:ln>
          <a:effectLst>
            <a:outerShdw blurRad="101600" rotWithShape="0" algn="bl" dir="5400000" dist="38100">
              <a:srgbClr val="9FAFC9">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868680" y="2697480"/>
            <a:ext cx="822960" cy="822960"/>
          </a:xfrm>
          <a:prstGeom prst="ellipse">
            <a:avLst/>
          </a:prstGeom>
          <a:solidFill>
            <a:srgbClr val="9900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ug_FFFFFF.png" id="35" name="Google Shape;35;p2"/>
          <p:cNvPicPr preferRelativeResize="0"/>
          <p:nvPr/>
        </p:nvPicPr>
        <p:blipFill rotWithShape="1">
          <a:blip r:embed="rId3">
            <a:alphaModFix/>
          </a:blip>
          <a:srcRect b="0" l="0" r="0" t="0"/>
          <a:stretch/>
        </p:blipFill>
        <p:spPr>
          <a:xfrm>
            <a:off x="1082650" y="2911450"/>
            <a:ext cx="395021" cy="395021"/>
          </a:xfrm>
          <a:prstGeom prst="rect">
            <a:avLst/>
          </a:prstGeom>
          <a:noFill/>
          <a:ln>
            <a:noFill/>
          </a:ln>
        </p:spPr>
      </p:pic>
      <p:sp>
        <p:nvSpPr>
          <p:cNvPr id="36" name="Google Shape;36;p2"/>
          <p:cNvSpPr/>
          <p:nvPr/>
        </p:nvSpPr>
        <p:spPr>
          <a:xfrm>
            <a:off x="868680" y="3749040"/>
            <a:ext cx="2697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700"/>
              <a:buFont typeface="Cambria"/>
              <a:buNone/>
            </a:pPr>
            <a:r>
              <a:rPr b="1" i="0" lang="en-US" sz="1700" u="none" cap="none" strike="noStrike">
                <a:solidFill>
                  <a:srgbClr val="1B2333"/>
                </a:solidFill>
                <a:latin typeface="Cambria"/>
                <a:ea typeface="Cambria"/>
                <a:cs typeface="Cambria"/>
                <a:sym typeface="Cambria"/>
              </a:rPr>
              <a:t>Bugs in production</a:t>
            </a:r>
            <a:endParaRPr b="0" i="0" sz="1700" u="none" cap="none" strike="noStrike">
              <a:solidFill>
                <a:schemeClr val="dk1"/>
              </a:solidFill>
              <a:latin typeface="Calibri"/>
              <a:ea typeface="Calibri"/>
              <a:cs typeface="Calibri"/>
              <a:sym typeface="Calibri"/>
            </a:endParaRPr>
          </a:p>
        </p:txBody>
      </p:sp>
      <p:sp>
        <p:nvSpPr>
          <p:cNvPr id="37" name="Google Shape;37;p2"/>
          <p:cNvSpPr/>
          <p:nvPr/>
        </p:nvSpPr>
        <p:spPr>
          <a:xfrm>
            <a:off x="868680" y="4297680"/>
            <a:ext cx="26974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250"/>
              <a:buFont typeface="Calibri"/>
              <a:buNone/>
            </a:pPr>
            <a:r>
              <a:rPr b="0" i="0" lang="en-US" sz="1250" u="none" cap="none" strike="noStrike">
                <a:solidFill>
                  <a:srgbClr val="5A6478"/>
                </a:solidFill>
                <a:latin typeface="Calibri"/>
                <a:ea typeface="Calibri"/>
                <a:cs typeface="Calibri"/>
                <a:sym typeface="Calibri"/>
              </a:rPr>
              <a:t>Regressions that reach production without being caught in time.</a:t>
            </a:r>
            <a:endParaRPr b="0" i="0" sz="1250" u="none" cap="none" strike="noStrike">
              <a:solidFill>
                <a:schemeClr val="dk1"/>
              </a:solidFill>
              <a:latin typeface="Calibri"/>
              <a:ea typeface="Calibri"/>
              <a:cs typeface="Calibri"/>
              <a:sym typeface="Calibri"/>
            </a:endParaRPr>
          </a:p>
        </p:txBody>
      </p:sp>
      <p:sp>
        <p:nvSpPr>
          <p:cNvPr id="38" name="Google Shape;38;p2"/>
          <p:cNvSpPr/>
          <p:nvPr/>
        </p:nvSpPr>
        <p:spPr>
          <a:xfrm>
            <a:off x="4206240" y="2331720"/>
            <a:ext cx="3337560" cy="3017520"/>
          </a:xfrm>
          <a:prstGeom prst="roundRect">
            <a:avLst>
              <a:gd fmla="val 2424" name="adj"/>
            </a:avLst>
          </a:prstGeom>
          <a:solidFill>
            <a:srgbClr val="FFFFFF"/>
          </a:solidFill>
          <a:ln cap="flat" cmpd="sng" w="12700">
            <a:solidFill>
              <a:srgbClr val="E1E7F5"/>
            </a:solidFill>
            <a:prstDash val="solid"/>
            <a:round/>
            <a:headEnd len="sm" w="sm" type="none"/>
            <a:tailEnd len="sm" w="sm" type="none"/>
          </a:ln>
          <a:effectLst>
            <a:outerShdw blurRad="101600" rotWithShape="0" algn="bl" dir="5400000" dist="38100">
              <a:srgbClr val="9FAFC9">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4526280" y="2697480"/>
            <a:ext cx="822960" cy="8229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lock_FFFFFF.png" id="40" name="Google Shape;40;p2"/>
          <p:cNvPicPr preferRelativeResize="0"/>
          <p:nvPr/>
        </p:nvPicPr>
        <p:blipFill rotWithShape="1">
          <a:blip r:embed="rId4">
            <a:alphaModFix/>
          </a:blip>
          <a:srcRect b="0" l="0" r="0" t="0"/>
          <a:stretch/>
        </p:blipFill>
        <p:spPr>
          <a:xfrm>
            <a:off x="4740250" y="2911450"/>
            <a:ext cx="395021" cy="395021"/>
          </a:xfrm>
          <a:prstGeom prst="rect">
            <a:avLst/>
          </a:prstGeom>
          <a:noFill/>
          <a:ln>
            <a:noFill/>
          </a:ln>
        </p:spPr>
      </p:pic>
      <p:sp>
        <p:nvSpPr>
          <p:cNvPr id="41" name="Google Shape;41;p2"/>
          <p:cNvSpPr/>
          <p:nvPr/>
        </p:nvSpPr>
        <p:spPr>
          <a:xfrm>
            <a:off x="4526280" y="3749040"/>
            <a:ext cx="2697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700"/>
              <a:buFont typeface="Cambria"/>
              <a:buNone/>
            </a:pPr>
            <a:r>
              <a:rPr b="1" i="0" lang="en-US" sz="1700" u="none" cap="none" strike="noStrike">
                <a:solidFill>
                  <a:srgbClr val="1B2333"/>
                </a:solidFill>
                <a:latin typeface="Cambria"/>
                <a:ea typeface="Cambria"/>
                <a:cs typeface="Cambria"/>
                <a:sym typeface="Cambria"/>
              </a:rPr>
              <a:t>Slow manual regressions</a:t>
            </a:r>
            <a:endParaRPr b="0" i="0" sz="1700" u="none" cap="none" strike="noStrike">
              <a:solidFill>
                <a:schemeClr val="dk1"/>
              </a:solidFill>
              <a:latin typeface="Calibri"/>
              <a:ea typeface="Calibri"/>
              <a:cs typeface="Calibri"/>
              <a:sym typeface="Calibri"/>
            </a:endParaRPr>
          </a:p>
        </p:txBody>
      </p:sp>
      <p:sp>
        <p:nvSpPr>
          <p:cNvPr id="42" name="Google Shape;42;p2"/>
          <p:cNvSpPr/>
          <p:nvPr/>
        </p:nvSpPr>
        <p:spPr>
          <a:xfrm>
            <a:off x="4526280" y="4297680"/>
            <a:ext cx="26974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250"/>
              <a:buFont typeface="Calibri"/>
              <a:buNone/>
            </a:pPr>
            <a:r>
              <a:rPr b="0" i="0" lang="en-US" sz="1250" u="none" cap="none" strike="noStrike">
                <a:solidFill>
                  <a:srgbClr val="5A6478"/>
                </a:solidFill>
                <a:latin typeface="Calibri"/>
                <a:ea typeface="Calibri"/>
                <a:cs typeface="Calibri"/>
                <a:sym typeface="Calibri"/>
              </a:rPr>
              <a:t>Manual testing can't keep pace with the release cadence.</a:t>
            </a:r>
            <a:endParaRPr b="0" i="0" sz="1250" u="none" cap="none" strike="noStrike">
              <a:solidFill>
                <a:schemeClr val="dk1"/>
              </a:solidFill>
              <a:latin typeface="Calibri"/>
              <a:ea typeface="Calibri"/>
              <a:cs typeface="Calibri"/>
              <a:sym typeface="Calibri"/>
            </a:endParaRPr>
          </a:p>
        </p:txBody>
      </p:sp>
      <p:sp>
        <p:nvSpPr>
          <p:cNvPr id="43" name="Google Shape;43;p2"/>
          <p:cNvSpPr/>
          <p:nvPr/>
        </p:nvSpPr>
        <p:spPr>
          <a:xfrm>
            <a:off x="7863840" y="2331720"/>
            <a:ext cx="3337560" cy="3017520"/>
          </a:xfrm>
          <a:prstGeom prst="roundRect">
            <a:avLst>
              <a:gd fmla="val 2424" name="adj"/>
            </a:avLst>
          </a:prstGeom>
          <a:solidFill>
            <a:srgbClr val="FFFFFF"/>
          </a:solidFill>
          <a:ln cap="flat" cmpd="sng" w="12700">
            <a:solidFill>
              <a:srgbClr val="E1E7F5"/>
            </a:solidFill>
            <a:prstDash val="solid"/>
            <a:round/>
            <a:headEnd len="sm" w="sm" type="none"/>
            <a:tailEnd len="sm" w="sm" type="none"/>
          </a:ln>
          <a:effectLst>
            <a:outerShdw blurRad="101600" rotWithShape="0" algn="bl" dir="5400000" dist="38100">
              <a:srgbClr val="9FAFC9">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8183880" y="2697480"/>
            <a:ext cx="822960" cy="82296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alance_FFFFFF.png" id="45" name="Google Shape;45;p2"/>
          <p:cNvPicPr preferRelativeResize="0"/>
          <p:nvPr/>
        </p:nvPicPr>
        <p:blipFill rotWithShape="1">
          <a:blip r:embed="rId5">
            <a:alphaModFix/>
          </a:blip>
          <a:srcRect b="0" l="0" r="0" t="0"/>
          <a:stretch/>
        </p:blipFill>
        <p:spPr>
          <a:xfrm>
            <a:off x="8397850" y="2911450"/>
            <a:ext cx="395021" cy="395021"/>
          </a:xfrm>
          <a:prstGeom prst="rect">
            <a:avLst/>
          </a:prstGeom>
          <a:noFill/>
          <a:ln>
            <a:noFill/>
          </a:ln>
        </p:spPr>
      </p:pic>
      <p:sp>
        <p:nvSpPr>
          <p:cNvPr id="46" name="Google Shape;46;p2"/>
          <p:cNvSpPr/>
          <p:nvPr/>
        </p:nvSpPr>
        <p:spPr>
          <a:xfrm>
            <a:off x="8183880" y="3749040"/>
            <a:ext cx="2697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700"/>
              <a:buFont typeface="Cambria"/>
              <a:buNone/>
            </a:pPr>
            <a:r>
              <a:rPr b="1" i="0" lang="en-US" sz="1700" u="none" cap="none" strike="noStrike">
                <a:solidFill>
                  <a:srgbClr val="1B2333"/>
                </a:solidFill>
                <a:latin typeface="Cambria"/>
                <a:ea typeface="Cambria"/>
                <a:cs typeface="Cambria"/>
                <a:sym typeface="Cambria"/>
              </a:rPr>
              <a:t>Lack of confidence in releases</a:t>
            </a:r>
            <a:endParaRPr b="0" i="0" sz="1700" u="none" cap="none" strike="noStrike">
              <a:solidFill>
                <a:schemeClr val="dk1"/>
              </a:solidFill>
              <a:latin typeface="Calibri"/>
              <a:ea typeface="Calibri"/>
              <a:cs typeface="Calibri"/>
              <a:sym typeface="Calibri"/>
            </a:endParaRPr>
          </a:p>
        </p:txBody>
      </p:sp>
      <p:sp>
        <p:nvSpPr>
          <p:cNvPr id="47" name="Google Shape;47;p2"/>
          <p:cNvSpPr/>
          <p:nvPr/>
        </p:nvSpPr>
        <p:spPr>
          <a:xfrm>
            <a:off x="8183880" y="4297680"/>
            <a:ext cx="26974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250"/>
              <a:buFont typeface="Calibri"/>
              <a:buNone/>
            </a:pPr>
            <a:r>
              <a:rPr b="0" i="0" lang="en-US" sz="1250" u="none" cap="none" strike="noStrike">
                <a:solidFill>
                  <a:srgbClr val="5A6478"/>
                </a:solidFill>
                <a:latin typeface="Calibri"/>
                <a:ea typeface="Calibri"/>
                <a:cs typeface="Calibri"/>
                <a:sym typeface="Calibri"/>
              </a:rPr>
              <a:t>Without objective evidence, every release is a gamble.</a:t>
            </a:r>
            <a:endParaRPr b="0" i="0" sz="1250" u="none" cap="none" strike="noStrike">
              <a:solidFill>
                <a:schemeClr val="dk1"/>
              </a:solidFill>
              <a:latin typeface="Calibri"/>
              <a:ea typeface="Calibri"/>
              <a:cs typeface="Calibri"/>
              <a:sym typeface="Calibri"/>
            </a:endParaRPr>
          </a:p>
        </p:txBody>
      </p:sp>
      <p:sp>
        <p:nvSpPr>
          <p:cNvPr id="48" name="Google Shape;48;p2"/>
          <p:cNvSpPr/>
          <p:nvPr/>
        </p:nvSpPr>
        <p:spPr>
          <a:xfrm>
            <a:off x="548640" y="5623560"/>
            <a:ext cx="10698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Calibri"/>
                <a:ea typeface="Calibri"/>
                <a:cs typeface="Calibri"/>
                <a:sym typeface="Calibri"/>
              </a:rPr>
              <a:t>Team objective: </a:t>
            </a:r>
            <a:r>
              <a:rPr b="0" i="0" lang="en-US" sz="1350" u="none" cap="none" strike="noStrike">
                <a:solidFill>
                  <a:srgbClr val="5A6478"/>
                </a:solidFill>
                <a:latin typeface="Calibri"/>
                <a:ea typeface="Calibri"/>
                <a:cs typeface="Calibri"/>
                <a:sym typeface="Calibri"/>
              </a:rPr>
              <a:t>propose and implement a scalable, maintainable and reliable E2E automation solution — within 1.5 days of development.</a:t>
            </a:r>
            <a:endParaRPr b="0" i="0" sz="1350" u="none" cap="none" strike="noStrike">
              <a:solidFill>
                <a:schemeClr val="dk1"/>
              </a:solidFill>
              <a:latin typeface="Calibri"/>
              <a:ea typeface="Calibri"/>
              <a:cs typeface="Calibri"/>
              <a:sym typeface="Calibri"/>
            </a:endParaRPr>
          </a:p>
        </p:txBody>
      </p:sp>
      <p:sp>
        <p:nvSpPr>
          <p:cNvPr id="49" name="Google Shape;49;p2"/>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50" name="Google Shape;50;p2"/>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55" name="Shape 55"/>
        <p:cNvGrpSpPr/>
        <p:nvPr/>
      </p:nvGrpSpPr>
      <p:grpSpPr>
        <a:xfrm>
          <a:off x="0" y="0"/>
          <a:ext cx="0" cy="0"/>
          <a:chOff x="0" y="0"/>
          <a:chExt cx="0" cy="0"/>
        </a:xfrm>
      </p:grpSpPr>
      <p:sp>
        <p:nvSpPr>
          <p:cNvPr id="56" name="Google Shape;56;p3"/>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990011"/>
                </a:solidFill>
                <a:latin typeface="Calibri"/>
                <a:ea typeface="Calibri"/>
                <a:cs typeface="Calibri"/>
                <a:sym typeface="Calibri"/>
              </a:rPr>
              <a:t>SCOPE</a:t>
            </a:r>
            <a:endParaRPr b="0" i="0" sz="1300" u="none" cap="none" strike="noStrike">
              <a:solidFill>
                <a:schemeClr val="dk1"/>
              </a:solidFill>
              <a:latin typeface="Calibri"/>
              <a:ea typeface="Calibri"/>
              <a:cs typeface="Calibri"/>
              <a:sym typeface="Calibri"/>
            </a:endParaRPr>
          </a:p>
        </p:txBody>
      </p:sp>
      <p:sp>
        <p:nvSpPr>
          <p:cNvPr id="57" name="Google Shape;57;p3"/>
          <p:cNvSpPr/>
          <p:nvPr/>
        </p:nvSpPr>
        <p:spPr>
          <a:xfrm>
            <a:off x="548640" y="65836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Minimum requirements: 100% met</a:t>
            </a:r>
            <a:endParaRPr b="0" i="0" sz="3000" u="none" cap="none" strike="noStrike">
              <a:solidFill>
                <a:schemeClr val="dk1"/>
              </a:solidFill>
              <a:latin typeface="Calibri"/>
              <a:ea typeface="Calibri"/>
              <a:cs typeface="Calibri"/>
              <a:sym typeface="Calibri"/>
            </a:endParaRPr>
          </a:p>
        </p:txBody>
      </p:sp>
      <p:sp>
        <p:nvSpPr>
          <p:cNvPr id="58" name="Google Shape;58;p3"/>
          <p:cNvSpPr/>
          <p:nvPr/>
        </p:nvSpPr>
        <p:spPr>
          <a:xfrm>
            <a:off x="548640" y="1325880"/>
            <a:ext cx="2148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4000"/>
              <a:buFont typeface="Cambria"/>
              <a:buNone/>
            </a:pPr>
            <a:r>
              <a:rPr b="1" i="0" lang="en-US" sz="4000" u="none" cap="none" strike="noStrike">
                <a:solidFill>
                  <a:srgbClr val="1E2761"/>
                </a:solidFill>
                <a:latin typeface="Cambria"/>
                <a:ea typeface="Cambria"/>
                <a:cs typeface="Cambria"/>
                <a:sym typeface="Cambria"/>
              </a:rPr>
              <a:t>7/7</a:t>
            </a:r>
            <a:endParaRPr b="0" i="0" sz="4000" u="none" cap="none" strike="noStrike">
              <a:solidFill>
                <a:schemeClr val="dk1"/>
              </a:solidFill>
              <a:latin typeface="Calibri"/>
              <a:ea typeface="Calibri"/>
              <a:cs typeface="Calibri"/>
              <a:sym typeface="Calibri"/>
            </a:endParaRPr>
          </a:p>
        </p:txBody>
      </p:sp>
      <p:sp>
        <p:nvSpPr>
          <p:cNvPr id="59" name="Google Shape;59;p3"/>
          <p:cNvSpPr/>
          <p:nvPr/>
        </p:nvSpPr>
        <p:spPr>
          <a:xfrm>
            <a:off x="548640" y="2011680"/>
            <a:ext cx="2148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core tests passed</a:t>
            </a:r>
            <a:endParaRPr b="0" i="0" sz="1150" u="none" cap="none" strike="noStrike">
              <a:solidFill>
                <a:schemeClr val="dk1"/>
              </a:solidFill>
              <a:latin typeface="Calibri"/>
              <a:ea typeface="Calibri"/>
              <a:cs typeface="Calibri"/>
              <a:sym typeface="Calibri"/>
            </a:endParaRPr>
          </a:p>
        </p:txBody>
      </p:sp>
      <p:sp>
        <p:nvSpPr>
          <p:cNvPr id="60" name="Google Shape;60;p3"/>
          <p:cNvSpPr/>
          <p:nvPr/>
        </p:nvSpPr>
        <p:spPr>
          <a:xfrm>
            <a:off x="2880360" y="1325880"/>
            <a:ext cx="2148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4000"/>
              <a:buFont typeface="Cambria"/>
              <a:buNone/>
            </a:pPr>
            <a:r>
              <a:rPr b="1" i="0" lang="en-US" sz="4000" u="none" cap="none" strike="noStrike">
                <a:solidFill>
                  <a:srgbClr val="1E2761"/>
                </a:solidFill>
                <a:latin typeface="Cambria"/>
                <a:ea typeface="Cambria"/>
                <a:cs typeface="Cambria"/>
                <a:sym typeface="Cambria"/>
              </a:rPr>
              <a:t>100%</a:t>
            </a:r>
            <a:endParaRPr b="0" i="0" sz="4000" u="none" cap="none" strike="noStrike">
              <a:solidFill>
                <a:schemeClr val="dk1"/>
              </a:solidFill>
              <a:latin typeface="Calibri"/>
              <a:ea typeface="Calibri"/>
              <a:cs typeface="Calibri"/>
              <a:sym typeface="Calibri"/>
            </a:endParaRPr>
          </a:p>
        </p:txBody>
      </p:sp>
      <p:sp>
        <p:nvSpPr>
          <p:cNvPr id="61" name="Google Shape;61;p3"/>
          <p:cNvSpPr/>
          <p:nvPr/>
        </p:nvSpPr>
        <p:spPr>
          <a:xfrm>
            <a:off x="2880360" y="2011680"/>
            <a:ext cx="2148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minimum requirements</a:t>
            </a:r>
            <a:endParaRPr b="0" i="0" sz="1150" u="none" cap="none" strike="noStrike">
              <a:solidFill>
                <a:schemeClr val="dk1"/>
              </a:solidFill>
              <a:latin typeface="Calibri"/>
              <a:ea typeface="Calibri"/>
              <a:cs typeface="Calibri"/>
              <a:sym typeface="Calibri"/>
            </a:endParaRPr>
          </a:p>
        </p:txBody>
      </p:sp>
      <p:sp>
        <p:nvSpPr>
          <p:cNvPr id="62" name="Google Shape;62;p3"/>
          <p:cNvSpPr/>
          <p:nvPr/>
        </p:nvSpPr>
        <p:spPr>
          <a:xfrm>
            <a:off x="5212080" y="1325880"/>
            <a:ext cx="2148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4000"/>
              <a:buFont typeface="Cambria"/>
              <a:buNone/>
            </a:pPr>
            <a:r>
              <a:rPr b="1" i="0" lang="en-US" sz="4000" u="none" cap="none" strike="noStrike">
                <a:solidFill>
                  <a:srgbClr val="1E2761"/>
                </a:solidFill>
                <a:latin typeface="Cambria"/>
                <a:ea typeface="Cambria"/>
                <a:cs typeface="Cambria"/>
                <a:sym typeface="Cambria"/>
              </a:rPr>
              <a:t>16</a:t>
            </a:r>
            <a:endParaRPr b="0" i="0" sz="4000" u="none" cap="none" strike="noStrike">
              <a:solidFill>
                <a:schemeClr val="dk1"/>
              </a:solidFill>
              <a:latin typeface="Calibri"/>
              <a:ea typeface="Calibri"/>
              <a:cs typeface="Calibri"/>
              <a:sym typeface="Calibri"/>
            </a:endParaRPr>
          </a:p>
        </p:txBody>
      </p:sp>
      <p:sp>
        <p:nvSpPr>
          <p:cNvPr id="63" name="Google Shape;63;p3"/>
          <p:cNvSpPr/>
          <p:nvPr/>
        </p:nvSpPr>
        <p:spPr>
          <a:xfrm>
            <a:off x="5212080" y="2011680"/>
            <a:ext cx="2148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total tests in the repo</a:t>
            </a:r>
            <a:endParaRPr b="0" i="0" sz="1150" u="none" cap="none" strike="noStrike">
              <a:solidFill>
                <a:schemeClr val="dk1"/>
              </a:solidFill>
              <a:latin typeface="Calibri"/>
              <a:ea typeface="Calibri"/>
              <a:cs typeface="Calibri"/>
              <a:sym typeface="Calibri"/>
            </a:endParaRPr>
          </a:p>
        </p:txBody>
      </p:sp>
      <p:cxnSp>
        <p:nvCxnSpPr>
          <p:cNvPr id="64" name="Google Shape;64;p3"/>
          <p:cNvCxnSpPr/>
          <p:nvPr/>
        </p:nvCxnSpPr>
        <p:spPr>
          <a:xfrm>
            <a:off x="7406640" y="1417320"/>
            <a:ext cx="0" cy="914400"/>
          </a:xfrm>
          <a:prstGeom prst="straightConnector1">
            <a:avLst/>
          </a:prstGeom>
          <a:noFill/>
          <a:ln cap="flat" cmpd="sng" w="19050">
            <a:solidFill>
              <a:srgbClr val="E1E7F5"/>
            </a:solidFill>
            <a:prstDash val="solid"/>
            <a:round/>
            <a:headEnd len="sm" w="sm" type="none"/>
            <a:tailEnd len="sm" w="sm" type="none"/>
          </a:ln>
        </p:spPr>
      </p:cxnSp>
      <p:sp>
        <p:nvSpPr>
          <p:cNvPr id="65" name="Google Shape;65;p3"/>
          <p:cNvSpPr/>
          <p:nvPr/>
        </p:nvSpPr>
        <p:spPr>
          <a:xfrm>
            <a:off x="548640" y="3063240"/>
            <a:ext cx="365760" cy="36576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FFFFFF.png" id="66" name="Google Shape;66;p3"/>
          <p:cNvPicPr preferRelativeResize="0"/>
          <p:nvPr/>
        </p:nvPicPr>
        <p:blipFill rotWithShape="1">
          <a:blip r:embed="rId3">
            <a:alphaModFix/>
          </a:blip>
          <a:srcRect b="0" l="0" r="0" t="0"/>
          <a:stretch/>
        </p:blipFill>
        <p:spPr>
          <a:xfrm>
            <a:off x="643738" y="3158338"/>
            <a:ext cx="175565" cy="175565"/>
          </a:xfrm>
          <a:prstGeom prst="rect">
            <a:avLst/>
          </a:prstGeom>
          <a:noFill/>
          <a:ln>
            <a:noFill/>
          </a:ln>
        </p:spPr>
      </p:pic>
      <p:sp>
        <p:nvSpPr>
          <p:cNvPr id="67" name="Google Shape;67;p3"/>
          <p:cNvSpPr/>
          <p:nvPr/>
        </p:nvSpPr>
        <p:spPr>
          <a:xfrm>
            <a:off x="1051560" y="3035808"/>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0" i="0" lang="en-US" sz="1300" u="none" cap="none" strike="noStrike">
                <a:solidFill>
                  <a:srgbClr val="1B2333"/>
                </a:solidFill>
                <a:latin typeface="Calibri"/>
                <a:ea typeface="Calibri"/>
                <a:cs typeface="Calibri"/>
                <a:sym typeface="Calibri"/>
              </a:rPr>
              <a:t>Page Object Model in TypeScript</a:t>
            </a:r>
            <a:endParaRPr b="0" i="0" sz="1300" u="none" cap="none" strike="noStrike">
              <a:solidFill>
                <a:schemeClr val="dk1"/>
              </a:solidFill>
              <a:latin typeface="Calibri"/>
              <a:ea typeface="Calibri"/>
              <a:cs typeface="Calibri"/>
              <a:sym typeface="Calibri"/>
            </a:endParaRPr>
          </a:p>
        </p:txBody>
      </p:sp>
      <p:sp>
        <p:nvSpPr>
          <p:cNvPr id="68" name="Google Shape;68;p3"/>
          <p:cNvSpPr/>
          <p:nvPr/>
        </p:nvSpPr>
        <p:spPr>
          <a:xfrm>
            <a:off x="6035040" y="3063240"/>
            <a:ext cx="365760" cy="36576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FFFFFF.png" id="69" name="Google Shape;69;p3"/>
          <p:cNvPicPr preferRelativeResize="0"/>
          <p:nvPr/>
        </p:nvPicPr>
        <p:blipFill rotWithShape="1">
          <a:blip r:embed="rId3">
            <a:alphaModFix/>
          </a:blip>
          <a:srcRect b="0" l="0" r="0" t="0"/>
          <a:stretch/>
        </p:blipFill>
        <p:spPr>
          <a:xfrm>
            <a:off x="6130138" y="3158338"/>
            <a:ext cx="175565" cy="175565"/>
          </a:xfrm>
          <a:prstGeom prst="rect">
            <a:avLst/>
          </a:prstGeom>
          <a:noFill/>
          <a:ln>
            <a:noFill/>
          </a:ln>
        </p:spPr>
      </p:pic>
      <p:sp>
        <p:nvSpPr>
          <p:cNvPr id="70" name="Google Shape;70;p3"/>
          <p:cNvSpPr/>
          <p:nvPr/>
        </p:nvSpPr>
        <p:spPr>
          <a:xfrm>
            <a:off x="6537960" y="3035808"/>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0" i="0" lang="en-US" sz="1300" u="none" cap="none" strike="noStrike">
                <a:solidFill>
                  <a:srgbClr val="1B2333"/>
                </a:solidFill>
                <a:latin typeface="Calibri"/>
                <a:ea typeface="Calibri"/>
                <a:cs typeface="Calibri"/>
                <a:sym typeface="Calibri"/>
              </a:rPr>
              <a:t>Full layer separation (test / page / data / config)</a:t>
            </a:r>
            <a:endParaRPr b="0" i="0" sz="1300" u="none" cap="none" strike="noStrike">
              <a:solidFill>
                <a:schemeClr val="dk1"/>
              </a:solidFill>
              <a:latin typeface="Calibri"/>
              <a:ea typeface="Calibri"/>
              <a:cs typeface="Calibri"/>
              <a:sym typeface="Calibri"/>
            </a:endParaRPr>
          </a:p>
        </p:txBody>
      </p:sp>
      <p:sp>
        <p:nvSpPr>
          <p:cNvPr id="71" name="Google Shape;71;p3"/>
          <p:cNvSpPr/>
          <p:nvPr/>
        </p:nvSpPr>
        <p:spPr>
          <a:xfrm>
            <a:off x="548640" y="3630168"/>
            <a:ext cx="365760" cy="36576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FFFFFF.png" id="72" name="Google Shape;72;p3"/>
          <p:cNvPicPr preferRelativeResize="0"/>
          <p:nvPr/>
        </p:nvPicPr>
        <p:blipFill rotWithShape="1">
          <a:blip r:embed="rId3">
            <a:alphaModFix/>
          </a:blip>
          <a:srcRect b="0" l="0" r="0" t="0"/>
          <a:stretch/>
        </p:blipFill>
        <p:spPr>
          <a:xfrm>
            <a:off x="643738" y="3725266"/>
            <a:ext cx="175565" cy="175565"/>
          </a:xfrm>
          <a:prstGeom prst="rect">
            <a:avLst/>
          </a:prstGeom>
          <a:noFill/>
          <a:ln>
            <a:noFill/>
          </a:ln>
        </p:spPr>
      </p:pic>
      <p:sp>
        <p:nvSpPr>
          <p:cNvPr id="73" name="Google Shape;73;p3"/>
          <p:cNvSpPr/>
          <p:nvPr/>
        </p:nvSpPr>
        <p:spPr>
          <a:xfrm>
            <a:off x="1051560" y="3602736"/>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0" i="0" lang="en-US" sz="1300" u="none" cap="none" strike="noStrike">
                <a:solidFill>
                  <a:srgbClr val="1B2333"/>
                </a:solidFill>
                <a:latin typeface="Calibri"/>
                <a:ea typeface="Calibri"/>
                <a:cs typeface="Calibri"/>
                <a:sym typeface="Calibri"/>
              </a:rPr>
              <a:t>Complete purchase happy path</a:t>
            </a:r>
            <a:endParaRPr b="0" i="0" sz="1300" u="none" cap="none" strike="noStrike">
              <a:solidFill>
                <a:schemeClr val="dk1"/>
              </a:solidFill>
              <a:latin typeface="Calibri"/>
              <a:ea typeface="Calibri"/>
              <a:cs typeface="Calibri"/>
              <a:sym typeface="Calibri"/>
            </a:endParaRPr>
          </a:p>
        </p:txBody>
      </p:sp>
      <p:sp>
        <p:nvSpPr>
          <p:cNvPr id="74" name="Google Shape;74;p3"/>
          <p:cNvSpPr/>
          <p:nvPr/>
        </p:nvSpPr>
        <p:spPr>
          <a:xfrm>
            <a:off x="6035040" y="3630168"/>
            <a:ext cx="365760" cy="36576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FFFFFF.png" id="75" name="Google Shape;75;p3"/>
          <p:cNvPicPr preferRelativeResize="0"/>
          <p:nvPr/>
        </p:nvPicPr>
        <p:blipFill rotWithShape="1">
          <a:blip r:embed="rId3">
            <a:alphaModFix/>
          </a:blip>
          <a:srcRect b="0" l="0" r="0" t="0"/>
          <a:stretch/>
        </p:blipFill>
        <p:spPr>
          <a:xfrm>
            <a:off x="6130138" y="3725266"/>
            <a:ext cx="175565" cy="175565"/>
          </a:xfrm>
          <a:prstGeom prst="rect">
            <a:avLst/>
          </a:prstGeom>
          <a:noFill/>
          <a:ln>
            <a:noFill/>
          </a:ln>
        </p:spPr>
      </p:pic>
      <p:sp>
        <p:nvSpPr>
          <p:cNvPr id="76" name="Google Shape;76;p3"/>
          <p:cNvSpPr/>
          <p:nvPr/>
        </p:nvSpPr>
        <p:spPr>
          <a:xfrm>
            <a:off x="6537960" y="3602736"/>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0" i="0" lang="en-US" sz="1300" u="none" cap="none" strike="noStrike">
                <a:solidFill>
                  <a:srgbClr val="1B2333"/>
                </a:solidFill>
                <a:latin typeface="Calibri"/>
                <a:ea typeface="Calibri"/>
                <a:cs typeface="Calibri"/>
                <a:sym typeface="Calibri"/>
              </a:rPr>
              <a:t>3 negative scenarios</a:t>
            </a:r>
            <a:endParaRPr b="0" i="0" sz="1300" u="none" cap="none" strike="noStrike">
              <a:solidFill>
                <a:schemeClr val="dk1"/>
              </a:solidFill>
              <a:latin typeface="Calibri"/>
              <a:ea typeface="Calibri"/>
              <a:cs typeface="Calibri"/>
              <a:sym typeface="Calibri"/>
            </a:endParaRPr>
          </a:p>
        </p:txBody>
      </p:sp>
      <p:sp>
        <p:nvSpPr>
          <p:cNvPr id="77" name="Google Shape;77;p3"/>
          <p:cNvSpPr/>
          <p:nvPr/>
        </p:nvSpPr>
        <p:spPr>
          <a:xfrm>
            <a:off x="548640" y="4197096"/>
            <a:ext cx="365760" cy="36576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FFFFFF.png" id="78" name="Google Shape;78;p3"/>
          <p:cNvPicPr preferRelativeResize="0"/>
          <p:nvPr/>
        </p:nvPicPr>
        <p:blipFill rotWithShape="1">
          <a:blip r:embed="rId3">
            <a:alphaModFix/>
          </a:blip>
          <a:srcRect b="0" l="0" r="0" t="0"/>
          <a:stretch/>
        </p:blipFill>
        <p:spPr>
          <a:xfrm>
            <a:off x="643738" y="4292194"/>
            <a:ext cx="175565" cy="175565"/>
          </a:xfrm>
          <a:prstGeom prst="rect">
            <a:avLst/>
          </a:prstGeom>
          <a:noFill/>
          <a:ln>
            <a:noFill/>
          </a:ln>
        </p:spPr>
      </p:pic>
      <p:sp>
        <p:nvSpPr>
          <p:cNvPr id="79" name="Google Shape;79;p3"/>
          <p:cNvSpPr/>
          <p:nvPr/>
        </p:nvSpPr>
        <p:spPr>
          <a:xfrm>
            <a:off x="1051560" y="4169664"/>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0" i="0" lang="en-US" sz="1300" u="none" cap="none" strike="noStrike">
                <a:solidFill>
                  <a:srgbClr val="1B2333"/>
                </a:solidFill>
                <a:latin typeface="Calibri"/>
                <a:ea typeface="Calibri"/>
                <a:cs typeface="Calibri"/>
                <a:sym typeface="Calibri"/>
              </a:rPr>
              <a:t>1 data-driven multi-user test</a:t>
            </a:r>
            <a:endParaRPr b="0" i="0" sz="1300" u="none" cap="none" strike="noStrike">
              <a:solidFill>
                <a:schemeClr val="dk1"/>
              </a:solidFill>
              <a:latin typeface="Calibri"/>
              <a:ea typeface="Calibri"/>
              <a:cs typeface="Calibri"/>
              <a:sym typeface="Calibri"/>
            </a:endParaRPr>
          </a:p>
        </p:txBody>
      </p:sp>
      <p:sp>
        <p:nvSpPr>
          <p:cNvPr id="80" name="Google Shape;80;p3"/>
          <p:cNvSpPr/>
          <p:nvPr/>
        </p:nvSpPr>
        <p:spPr>
          <a:xfrm>
            <a:off x="6035040" y="4197096"/>
            <a:ext cx="365760" cy="36576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FFFFFF.png" id="81" name="Google Shape;81;p3"/>
          <p:cNvPicPr preferRelativeResize="0"/>
          <p:nvPr/>
        </p:nvPicPr>
        <p:blipFill rotWithShape="1">
          <a:blip r:embed="rId3">
            <a:alphaModFix/>
          </a:blip>
          <a:srcRect b="0" l="0" r="0" t="0"/>
          <a:stretch/>
        </p:blipFill>
        <p:spPr>
          <a:xfrm>
            <a:off x="6130138" y="4292194"/>
            <a:ext cx="175565" cy="175565"/>
          </a:xfrm>
          <a:prstGeom prst="rect">
            <a:avLst/>
          </a:prstGeom>
          <a:noFill/>
          <a:ln>
            <a:noFill/>
          </a:ln>
        </p:spPr>
      </p:pic>
      <p:sp>
        <p:nvSpPr>
          <p:cNvPr id="82" name="Google Shape;82;p3"/>
          <p:cNvSpPr/>
          <p:nvPr/>
        </p:nvSpPr>
        <p:spPr>
          <a:xfrm>
            <a:off x="6537960" y="4169664"/>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0" i="0" lang="en-US" sz="1300" u="none" cap="none" strike="noStrike">
                <a:solidFill>
                  <a:srgbClr val="1B2333"/>
                </a:solidFill>
                <a:latin typeface="Calibri"/>
                <a:ea typeface="Calibri"/>
                <a:cs typeface="Calibri"/>
                <a:sym typeface="Calibri"/>
              </a:rPr>
              <a:t>Retries differentiated CI vs. local</a:t>
            </a:r>
            <a:endParaRPr b="0" i="0" sz="1300" u="none" cap="none" strike="noStrike">
              <a:solidFill>
                <a:schemeClr val="dk1"/>
              </a:solidFill>
              <a:latin typeface="Calibri"/>
              <a:ea typeface="Calibri"/>
              <a:cs typeface="Calibri"/>
              <a:sym typeface="Calibri"/>
            </a:endParaRPr>
          </a:p>
        </p:txBody>
      </p:sp>
      <p:sp>
        <p:nvSpPr>
          <p:cNvPr id="83" name="Google Shape;83;p3"/>
          <p:cNvSpPr/>
          <p:nvPr/>
        </p:nvSpPr>
        <p:spPr>
          <a:xfrm>
            <a:off x="548640" y="4764024"/>
            <a:ext cx="365760" cy="36576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FFFFFF.png" id="84" name="Google Shape;84;p3"/>
          <p:cNvPicPr preferRelativeResize="0"/>
          <p:nvPr/>
        </p:nvPicPr>
        <p:blipFill rotWithShape="1">
          <a:blip r:embed="rId3">
            <a:alphaModFix/>
          </a:blip>
          <a:srcRect b="0" l="0" r="0" t="0"/>
          <a:stretch/>
        </p:blipFill>
        <p:spPr>
          <a:xfrm>
            <a:off x="643738" y="4859122"/>
            <a:ext cx="175565" cy="175565"/>
          </a:xfrm>
          <a:prstGeom prst="rect">
            <a:avLst/>
          </a:prstGeom>
          <a:noFill/>
          <a:ln>
            <a:noFill/>
          </a:ln>
        </p:spPr>
      </p:pic>
      <p:sp>
        <p:nvSpPr>
          <p:cNvPr id="85" name="Google Shape;85;p3"/>
          <p:cNvSpPr/>
          <p:nvPr/>
        </p:nvSpPr>
        <p:spPr>
          <a:xfrm>
            <a:off x="1051560" y="4736592"/>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0" i="0" lang="en-US" sz="1300" u="none" cap="none" strike="noStrike">
                <a:solidFill>
                  <a:srgbClr val="1B2333"/>
                </a:solidFill>
                <a:latin typeface="Calibri"/>
                <a:ea typeface="Calibri"/>
                <a:cs typeface="Calibri"/>
                <a:sym typeface="Calibri"/>
              </a:rPr>
              <a:t>Explicit waits — zero sleeps</a:t>
            </a:r>
            <a:endParaRPr b="0" i="0" sz="1300" u="none" cap="none" strike="noStrike">
              <a:solidFill>
                <a:schemeClr val="dk1"/>
              </a:solidFill>
              <a:latin typeface="Calibri"/>
              <a:ea typeface="Calibri"/>
              <a:cs typeface="Calibri"/>
              <a:sym typeface="Calibri"/>
            </a:endParaRPr>
          </a:p>
        </p:txBody>
      </p:sp>
      <p:sp>
        <p:nvSpPr>
          <p:cNvPr id="86" name="Google Shape;86;p3"/>
          <p:cNvSpPr/>
          <p:nvPr/>
        </p:nvSpPr>
        <p:spPr>
          <a:xfrm>
            <a:off x="6035040" y="4764024"/>
            <a:ext cx="365760" cy="36576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FFFFFF.png" id="87" name="Google Shape;87;p3"/>
          <p:cNvPicPr preferRelativeResize="0"/>
          <p:nvPr/>
        </p:nvPicPr>
        <p:blipFill rotWithShape="1">
          <a:blip r:embed="rId3">
            <a:alphaModFix/>
          </a:blip>
          <a:srcRect b="0" l="0" r="0" t="0"/>
          <a:stretch/>
        </p:blipFill>
        <p:spPr>
          <a:xfrm>
            <a:off x="6130138" y="4859122"/>
            <a:ext cx="175565" cy="175565"/>
          </a:xfrm>
          <a:prstGeom prst="rect">
            <a:avLst/>
          </a:prstGeom>
          <a:noFill/>
          <a:ln>
            <a:noFill/>
          </a:ln>
        </p:spPr>
      </p:pic>
      <p:sp>
        <p:nvSpPr>
          <p:cNvPr id="88" name="Google Shape;88;p3"/>
          <p:cNvSpPr/>
          <p:nvPr/>
        </p:nvSpPr>
        <p:spPr>
          <a:xfrm>
            <a:off x="6537960" y="4736592"/>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0" i="0" lang="en-US" sz="1300" u="none" cap="none" strike="noStrike">
                <a:solidFill>
                  <a:srgbClr val="1B2333"/>
                </a:solidFill>
                <a:latin typeface="Calibri"/>
                <a:ea typeface="Calibri"/>
                <a:cs typeface="Calibri"/>
                <a:sym typeface="Calibri"/>
              </a:rPr>
              <a:t>Allure Report with evidence</a:t>
            </a:r>
            <a:endParaRPr b="0" i="0" sz="1300" u="none" cap="none" strike="noStrike">
              <a:solidFill>
                <a:schemeClr val="dk1"/>
              </a:solidFill>
              <a:latin typeface="Calibri"/>
              <a:ea typeface="Calibri"/>
              <a:cs typeface="Calibri"/>
              <a:sym typeface="Calibri"/>
            </a:endParaRPr>
          </a:p>
        </p:txBody>
      </p:sp>
      <p:sp>
        <p:nvSpPr>
          <p:cNvPr id="89" name="Google Shape;89;p3"/>
          <p:cNvSpPr/>
          <p:nvPr/>
        </p:nvSpPr>
        <p:spPr>
          <a:xfrm>
            <a:off x="548640" y="5330952"/>
            <a:ext cx="365760" cy="36576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FFFFFF.png" id="90" name="Google Shape;90;p3"/>
          <p:cNvPicPr preferRelativeResize="0"/>
          <p:nvPr/>
        </p:nvPicPr>
        <p:blipFill rotWithShape="1">
          <a:blip r:embed="rId3">
            <a:alphaModFix/>
          </a:blip>
          <a:srcRect b="0" l="0" r="0" t="0"/>
          <a:stretch/>
        </p:blipFill>
        <p:spPr>
          <a:xfrm>
            <a:off x="643738" y="5426050"/>
            <a:ext cx="175565" cy="175565"/>
          </a:xfrm>
          <a:prstGeom prst="rect">
            <a:avLst/>
          </a:prstGeom>
          <a:noFill/>
          <a:ln>
            <a:noFill/>
          </a:ln>
        </p:spPr>
      </p:pic>
      <p:sp>
        <p:nvSpPr>
          <p:cNvPr id="91" name="Google Shape;91;p3"/>
          <p:cNvSpPr/>
          <p:nvPr/>
        </p:nvSpPr>
        <p:spPr>
          <a:xfrm>
            <a:off x="1051560" y="5303520"/>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0" i="0" lang="en-US" sz="1300" u="none" cap="none" strike="noStrike">
                <a:solidFill>
                  <a:srgbClr val="1B2333"/>
                </a:solidFill>
                <a:latin typeface="Calibri"/>
                <a:ea typeface="Calibri"/>
                <a:cs typeface="Calibri"/>
                <a:sym typeface="Calibri"/>
              </a:rPr>
              <a:t>Pipeline on GitHub Actions</a:t>
            </a:r>
            <a:endParaRPr b="0" i="0" sz="1300" u="none" cap="none" strike="noStrike">
              <a:solidFill>
                <a:schemeClr val="dk1"/>
              </a:solidFill>
              <a:latin typeface="Calibri"/>
              <a:ea typeface="Calibri"/>
              <a:cs typeface="Calibri"/>
              <a:sym typeface="Calibri"/>
            </a:endParaRPr>
          </a:p>
        </p:txBody>
      </p:sp>
      <p:sp>
        <p:nvSpPr>
          <p:cNvPr id="92" name="Google Shape;92;p3"/>
          <p:cNvSpPr/>
          <p:nvPr/>
        </p:nvSpPr>
        <p:spPr>
          <a:xfrm>
            <a:off x="6035040" y="5330952"/>
            <a:ext cx="365760" cy="36576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FFFFFF.png" id="93" name="Google Shape;93;p3"/>
          <p:cNvPicPr preferRelativeResize="0"/>
          <p:nvPr/>
        </p:nvPicPr>
        <p:blipFill rotWithShape="1">
          <a:blip r:embed="rId3">
            <a:alphaModFix/>
          </a:blip>
          <a:srcRect b="0" l="0" r="0" t="0"/>
          <a:stretch/>
        </p:blipFill>
        <p:spPr>
          <a:xfrm>
            <a:off x="6130138" y="5426050"/>
            <a:ext cx="175565" cy="175565"/>
          </a:xfrm>
          <a:prstGeom prst="rect">
            <a:avLst/>
          </a:prstGeom>
          <a:noFill/>
          <a:ln>
            <a:noFill/>
          </a:ln>
        </p:spPr>
      </p:pic>
      <p:sp>
        <p:nvSpPr>
          <p:cNvPr id="94" name="Google Shape;94;p3"/>
          <p:cNvSpPr/>
          <p:nvPr/>
        </p:nvSpPr>
        <p:spPr>
          <a:xfrm>
            <a:off x="6537960" y="5303520"/>
            <a:ext cx="4663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0" i="0" lang="en-US" sz="1300" u="none" cap="none" strike="noStrike">
                <a:solidFill>
                  <a:srgbClr val="1B2333"/>
                </a:solidFill>
                <a:latin typeface="Calibri"/>
                <a:ea typeface="Calibri"/>
                <a:cs typeface="Calibri"/>
                <a:sym typeface="Calibri"/>
              </a:rPr>
              <a:t>AI integrated at 2 concrete points</a:t>
            </a:r>
            <a:endParaRPr b="0" i="0" sz="1300" u="none" cap="none" strike="noStrike">
              <a:solidFill>
                <a:schemeClr val="dk1"/>
              </a:solidFill>
              <a:latin typeface="Calibri"/>
              <a:ea typeface="Calibri"/>
              <a:cs typeface="Calibri"/>
              <a:sym typeface="Calibri"/>
            </a:endParaRPr>
          </a:p>
        </p:txBody>
      </p:sp>
      <p:sp>
        <p:nvSpPr>
          <p:cNvPr id="95" name="Google Shape;95;p3"/>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96" name="Google Shape;96;p3"/>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01" name="Shape 101"/>
        <p:cNvGrpSpPr/>
        <p:nvPr/>
      </p:nvGrpSpPr>
      <p:grpSpPr>
        <a:xfrm>
          <a:off x="0" y="0"/>
          <a:ext cx="0" cy="0"/>
          <a:chOff x="0" y="0"/>
          <a:chExt cx="0" cy="0"/>
        </a:xfrm>
      </p:grpSpPr>
      <p:sp>
        <p:nvSpPr>
          <p:cNvPr id="102" name="Google Shape;102;p4"/>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990011"/>
                </a:solidFill>
                <a:latin typeface="Calibri"/>
                <a:ea typeface="Calibri"/>
                <a:cs typeface="Calibri"/>
                <a:sym typeface="Calibri"/>
              </a:rPr>
              <a:t>ARCHITECTURE</a:t>
            </a:r>
            <a:endParaRPr b="0" i="0" sz="1300" u="none" cap="none" strike="noStrike">
              <a:solidFill>
                <a:schemeClr val="dk1"/>
              </a:solidFill>
              <a:latin typeface="Calibri"/>
              <a:ea typeface="Calibri"/>
              <a:cs typeface="Calibri"/>
              <a:sym typeface="Calibri"/>
            </a:endParaRPr>
          </a:p>
        </p:txBody>
      </p:sp>
      <p:sp>
        <p:nvSpPr>
          <p:cNvPr id="103" name="Google Shape;103;p4"/>
          <p:cNvSpPr/>
          <p:nvPr/>
        </p:nvSpPr>
        <p:spPr>
          <a:xfrm>
            <a:off x="548640" y="65836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Strict layer separation</a:t>
            </a:r>
            <a:endParaRPr b="0" i="0" sz="3000" u="none" cap="none" strike="noStrike">
              <a:solidFill>
                <a:schemeClr val="dk1"/>
              </a:solidFill>
              <a:latin typeface="Calibri"/>
              <a:ea typeface="Calibri"/>
              <a:cs typeface="Calibri"/>
              <a:sym typeface="Calibri"/>
            </a:endParaRPr>
          </a:p>
        </p:txBody>
      </p:sp>
      <p:sp>
        <p:nvSpPr>
          <p:cNvPr id="104" name="Google Shape;104;p4"/>
          <p:cNvSpPr/>
          <p:nvPr/>
        </p:nvSpPr>
        <p:spPr>
          <a:xfrm>
            <a:off x="548640" y="1417320"/>
            <a:ext cx="5760720" cy="1005840"/>
          </a:xfrm>
          <a:prstGeom prst="roundRect">
            <a:avLst>
              <a:gd fmla="val 5455"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822960" y="1527048"/>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Cambria"/>
              <a:buNone/>
            </a:pPr>
            <a:r>
              <a:rPr b="1" i="0" lang="en-US" sz="1550" u="none" cap="none" strike="noStrike">
                <a:solidFill>
                  <a:srgbClr val="FFFFFF"/>
                </a:solidFill>
                <a:latin typeface="Cambria"/>
                <a:ea typeface="Cambria"/>
                <a:cs typeface="Cambria"/>
                <a:sym typeface="Cambria"/>
              </a:rPr>
              <a:t>tests/e2e/</a:t>
            </a:r>
            <a:endParaRPr b="0" i="0" sz="1550" u="none" cap="none" strike="noStrike">
              <a:solidFill>
                <a:schemeClr val="dk1"/>
              </a:solidFill>
              <a:latin typeface="Calibri"/>
              <a:ea typeface="Calibri"/>
              <a:cs typeface="Calibri"/>
              <a:sym typeface="Calibri"/>
            </a:endParaRPr>
          </a:p>
        </p:txBody>
      </p:sp>
      <p:sp>
        <p:nvSpPr>
          <p:cNvPr id="106" name="Google Shape;106;p4"/>
          <p:cNvSpPr/>
          <p:nvPr/>
        </p:nvSpPr>
        <p:spPr>
          <a:xfrm>
            <a:off x="822960" y="1920240"/>
            <a:ext cx="5212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Test logic + assertions</a:t>
            </a:r>
            <a:endParaRPr b="0" i="0" sz="1150" u="none" cap="none" strike="noStrike">
              <a:solidFill>
                <a:schemeClr val="dk1"/>
              </a:solidFill>
              <a:latin typeface="Calibri"/>
              <a:ea typeface="Calibri"/>
              <a:cs typeface="Calibri"/>
              <a:sym typeface="Calibri"/>
            </a:endParaRPr>
          </a:p>
        </p:txBody>
      </p:sp>
      <p:sp>
        <p:nvSpPr>
          <p:cNvPr id="107" name="Google Shape;107;p4"/>
          <p:cNvSpPr/>
          <p:nvPr/>
        </p:nvSpPr>
        <p:spPr>
          <a:xfrm>
            <a:off x="548640" y="2587752"/>
            <a:ext cx="5760720" cy="1005840"/>
          </a:xfrm>
          <a:prstGeom prst="roundRect">
            <a:avLst>
              <a:gd fmla="val 5455" name="adj"/>
            </a:avLst>
          </a:prstGeom>
          <a:solidFill>
            <a:srgbClr val="334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822960" y="2697480"/>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Cambria"/>
              <a:buNone/>
            </a:pPr>
            <a:r>
              <a:rPr b="1" i="0" lang="en-US" sz="1550" u="none" cap="none" strike="noStrike">
                <a:solidFill>
                  <a:srgbClr val="FFFFFF"/>
                </a:solidFill>
                <a:latin typeface="Cambria"/>
                <a:ea typeface="Cambria"/>
                <a:cs typeface="Cambria"/>
                <a:sym typeface="Cambria"/>
              </a:rPr>
              <a:t>fixtures/</a:t>
            </a:r>
            <a:endParaRPr b="0" i="0" sz="1550" u="none" cap="none" strike="noStrike">
              <a:solidFill>
                <a:schemeClr val="dk1"/>
              </a:solidFill>
              <a:latin typeface="Calibri"/>
              <a:ea typeface="Calibri"/>
              <a:cs typeface="Calibri"/>
              <a:sym typeface="Calibri"/>
            </a:endParaRPr>
          </a:p>
        </p:txBody>
      </p:sp>
      <p:sp>
        <p:nvSpPr>
          <p:cNvPr id="109" name="Google Shape;109;p4"/>
          <p:cNvSpPr/>
          <p:nvPr/>
        </p:nvSpPr>
        <p:spPr>
          <a:xfrm>
            <a:off x="822960" y="3090672"/>
            <a:ext cx="5212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Automatic Page Object injection</a:t>
            </a:r>
            <a:endParaRPr b="0" i="0" sz="1150" u="none" cap="none" strike="noStrike">
              <a:solidFill>
                <a:schemeClr val="dk1"/>
              </a:solidFill>
              <a:latin typeface="Calibri"/>
              <a:ea typeface="Calibri"/>
              <a:cs typeface="Calibri"/>
              <a:sym typeface="Calibri"/>
            </a:endParaRPr>
          </a:p>
        </p:txBody>
      </p:sp>
      <p:sp>
        <p:nvSpPr>
          <p:cNvPr id="110" name="Google Shape;110;p4"/>
          <p:cNvSpPr/>
          <p:nvPr/>
        </p:nvSpPr>
        <p:spPr>
          <a:xfrm>
            <a:off x="548640" y="3758184"/>
            <a:ext cx="5760720" cy="1005840"/>
          </a:xfrm>
          <a:prstGeom prst="roundRect">
            <a:avLst>
              <a:gd fmla="val 5455" name="adj"/>
            </a:avLst>
          </a:prstGeom>
          <a:solidFill>
            <a:srgbClr val="547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822960" y="3867912"/>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Cambria"/>
              <a:buNone/>
            </a:pPr>
            <a:r>
              <a:rPr b="1" i="0" lang="en-US" sz="1550" u="none" cap="none" strike="noStrike">
                <a:solidFill>
                  <a:srgbClr val="FFFFFF"/>
                </a:solidFill>
                <a:latin typeface="Cambria"/>
                <a:ea typeface="Cambria"/>
                <a:cs typeface="Cambria"/>
                <a:sym typeface="Cambria"/>
              </a:rPr>
              <a:t>pages/</a:t>
            </a:r>
            <a:endParaRPr b="0" i="0" sz="1550" u="none" cap="none" strike="noStrike">
              <a:solidFill>
                <a:schemeClr val="dk1"/>
              </a:solidFill>
              <a:latin typeface="Calibri"/>
              <a:ea typeface="Calibri"/>
              <a:cs typeface="Calibri"/>
              <a:sym typeface="Calibri"/>
            </a:endParaRPr>
          </a:p>
        </p:txBody>
      </p:sp>
      <p:sp>
        <p:nvSpPr>
          <p:cNvPr id="112" name="Google Shape;112;p4"/>
          <p:cNvSpPr/>
          <p:nvPr/>
        </p:nvSpPr>
        <p:spPr>
          <a:xfrm>
            <a:off x="822960" y="4261104"/>
            <a:ext cx="5212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Page Objects — never import expect</a:t>
            </a:r>
            <a:endParaRPr b="0" i="0" sz="1150" u="none" cap="none" strike="noStrike">
              <a:solidFill>
                <a:schemeClr val="dk1"/>
              </a:solidFill>
              <a:latin typeface="Calibri"/>
              <a:ea typeface="Calibri"/>
              <a:cs typeface="Calibri"/>
              <a:sym typeface="Calibri"/>
            </a:endParaRPr>
          </a:p>
        </p:txBody>
      </p:sp>
      <p:sp>
        <p:nvSpPr>
          <p:cNvPr id="113" name="Google Shape;113;p4"/>
          <p:cNvSpPr/>
          <p:nvPr/>
        </p:nvSpPr>
        <p:spPr>
          <a:xfrm>
            <a:off x="548640" y="4928616"/>
            <a:ext cx="5760720" cy="1005840"/>
          </a:xfrm>
          <a:prstGeom prst="roundRect">
            <a:avLst>
              <a:gd fmla="val 5455" name="adj"/>
            </a:avLst>
          </a:prstGeom>
          <a:solidFill>
            <a:srgbClr val="7C97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822960" y="5038344"/>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Cambria"/>
              <a:buNone/>
            </a:pPr>
            <a:r>
              <a:rPr b="1" i="0" lang="en-US" sz="1550" u="none" cap="none" strike="noStrike">
                <a:solidFill>
                  <a:srgbClr val="FFFFFF"/>
                </a:solidFill>
                <a:latin typeface="Cambria"/>
                <a:ea typeface="Cambria"/>
                <a:cs typeface="Cambria"/>
                <a:sym typeface="Cambria"/>
              </a:rPr>
              <a:t>data/ · types/ · config</a:t>
            </a:r>
            <a:endParaRPr b="0" i="0" sz="1550" u="none" cap="none" strike="noStrike">
              <a:solidFill>
                <a:schemeClr val="dk1"/>
              </a:solidFill>
              <a:latin typeface="Calibri"/>
              <a:ea typeface="Calibri"/>
              <a:cs typeface="Calibri"/>
              <a:sym typeface="Calibri"/>
            </a:endParaRPr>
          </a:p>
        </p:txBody>
      </p:sp>
      <p:sp>
        <p:nvSpPr>
          <p:cNvPr id="115" name="Google Shape;115;p4"/>
          <p:cNvSpPr/>
          <p:nvPr/>
        </p:nvSpPr>
        <p:spPr>
          <a:xfrm>
            <a:off x="822960" y="5431536"/>
            <a:ext cx="5212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150" u="none" cap="none" strike="noStrike">
                <a:solidFill>
                  <a:srgbClr val="CADCFC"/>
                </a:solidFill>
                <a:latin typeface="Calibri"/>
                <a:ea typeface="Calibri"/>
                <a:cs typeface="Calibri"/>
                <a:sym typeface="Calibri"/>
              </a:rPr>
              <a:t>Shared data, types and infrastructure</a:t>
            </a:r>
            <a:endParaRPr b="0" i="0" sz="1150" u="none" cap="none" strike="noStrike">
              <a:solidFill>
                <a:schemeClr val="dk1"/>
              </a:solidFill>
              <a:latin typeface="Calibri"/>
              <a:ea typeface="Calibri"/>
              <a:cs typeface="Calibri"/>
              <a:sym typeface="Calibri"/>
            </a:endParaRPr>
          </a:p>
        </p:txBody>
      </p:sp>
      <p:sp>
        <p:nvSpPr>
          <p:cNvPr id="116" name="Google Shape;116;p4"/>
          <p:cNvSpPr/>
          <p:nvPr/>
        </p:nvSpPr>
        <p:spPr>
          <a:xfrm>
            <a:off x="6720840" y="137160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Why this structure</a:t>
            </a:r>
            <a:endParaRPr b="0" i="0" sz="1600" u="none" cap="none" strike="noStrike">
              <a:solidFill>
                <a:schemeClr val="dk1"/>
              </a:solidFill>
              <a:latin typeface="Calibri"/>
              <a:ea typeface="Calibri"/>
              <a:cs typeface="Calibri"/>
              <a:sym typeface="Calibri"/>
            </a:endParaRPr>
          </a:p>
        </p:txBody>
      </p:sp>
      <p:sp>
        <p:nvSpPr>
          <p:cNvPr id="117" name="Google Shape;117;p4"/>
          <p:cNvSpPr/>
          <p:nvPr/>
        </p:nvSpPr>
        <p:spPr>
          <a:xfrm>
            <a:off x="6720840" y="1828800"/>
            <a:ext cx="4937760" cy="4206240"/>
          </a:xfrm>
          <a:prstGeom prst="rect">
            <a:avLst/>
          </a:prstGeom>
          <a:noFill/>
          <a:ln>
            <a:noFill/>
          </a:ln>
        </p:spPr>
        <p:txBody>
          <a:bodyPr anchorCtr="0" anchor="ctr" bIns="0" lIns="0" spcFirstLastPara="1" rIns="0" wrap="square" tIns="0">
            <a:noAutofit/>
          </a:bodyPr>
          <a:lstStyle/>
          <a:p>
            <a:pPr indent="-342900" lvl="0" marL="342900" marR="0" rtl="0" algn="l">
              <a:lnSpc>
                <a:spcPct val="115000"/>
              </a:lnSpc>
              <a:spcBef>
                <a:spcPts val="0"/>
              </a:spcBef>
              <a:spcAft>
                <a:spcPts val="0"/>
              </a:spcAft>
              <a:buClr>
                <a:srgbClr val="1B2333"/>
              </a:buClr>
              <a:buSzPts val="1300"/>
              <a:buFont typeface="Calibri"/>
              <a:buChar char="•"/>
            </a:pPr>
            <a:r>
              <a:rPr b="0" i="0" lang="en-US" sz="1300" u="none" cap="none" strike="noStrike">
                <a:solidFill>
                  <a:srgbClr val="1B2333"/>
                </a:solidFill>
                <a:latin typeface="Calibri"/>
                <a:ea typeface="Calibri"/>
                <a:cs typeface="Calibri"/>
                <a:sym typeface="Calibri"/>
              </a:rPr>
              <a:t>Page Objects without assertions: they stay reusable across different test flows.</a:t>
            </a:r>
            <a:endParaRPr b="0" i="0" sz="1300" u="none" cap="none" strike="noStrike">
              <a:solidFill>
                <a:schemeClr val="dk1"/>
              </a:solidFill>
              <a:latin typeface="Calibri"/>
              <a:ea typeface="Calibri"/>
              <a:cs typeface="Calibri"/>
              <a:sym typeface="Calibri"/>
            </a:endParaRPr>
          </a:p>
          <a:p>
            <a:pPr indent="-342900" lvl="0" marL="342900" marR="0" rtl="0" algn="l">
              <a:lnSpc>
                <a:spcPct val="115000"/>
              </a:lnSpc>
              <a:spcBef>
                <a:spcPts val="1200"/>
              </a:spcBef>
              <a:spcAft>
                <a:spcPts val="0"/>
              </a:spcAft>
              <a:buClr>
                <a:srgbClr val="1B2333"/>
              </a:buClr>
              <a:buSzPts val="1300"/>
              <a:buFont typeface="Calibri"/>
              <a:buChar char="•"/>
            </a:pPr>
            <a:r>
              <a:rPr b="0" i="0" lang="en-US" sz="1300" u="none" cap="none" strike="noStrike">
                <a:solidFill>
                  <a:srgbClr val="1B2333"/>
                </a:solidFill>
                <a:latin typeface="Calibri"/>
                <a:ea typeface="Calibri"/>
                <a:cs typeface="Calibri"/>
                <a:sym typeface="Calibri"/>
              </a:rPr>
              <a:t>Fixtures inject all 4 Page Objects automatically — scales without repeating boilerplate.</a:t>
            </a:r>
            <a:endParaRPr b="0" i="0" sz="1300" u="none" cap="none" strike="noStrike">
              <a:solidFill>
                <a:schemeClr val="dk1"/>
              </a:solidFill>
              <a:latin typeface="Calibri"/>
              <a:ea typeface="Calibri"/>
              <a:cs typeface="Calibri"/>
              <a:sym typeface="Calibri"/>
            </a:endParaRPr>
          </a:p>
          <a:p>
            <a:pPr indent="-342900" lvl="0" marL="342900" marR="0" rtl="0" algn="l">
              <a:lnSpc>
                <a:spcPct val="115000"/>
              </a:lnSpc>
              <a:spcBef>
                <a:spcPts val="1200"/>
              </a:spcBef>
              <a:spcAft>
                <a:spcPts val="0"/>
              </a:spcAft>
              <a:buClr>
                <a:srgbClr val="1B2333"/>
              </a:buClr>
              <a:buSzPts val="1300"/>
              <a:buFont typeface="Calibri"/>
              <a:buChar char="•"/>
            </a:pPr>
            <a:r>
              <a:rPr b="0" i="0" lang="en-US" sz="1300" u="none" cap="none" strike="noStrike">
                <a:solidFill>
                  <a:srgbClr val="1B2333"/>
                </a:solidFill>
                <a:latin typeface="Calibri"/>
                <a:ea typeface="Calibri"/>
                <a:cs typeface="Calibri"/>
                <a:sym typeface="Calibri"/>
              </a:rPr>
              <a:t>data/ kept apart from tests/: AI script can feed checkout.data.ts without touching test logic.</a:t>
            </a:r>
            <a:endParaRPr b="0" i="0" sz="1300" u="none" cap="none" strike="noStrike">
              <a:solidFill>
                <a:schemeClr val="dk1"/>
              </a:solidFill>
              <a:latin typeface="Calibri"/>
              <a:ea typeface="Calibri"/>
              <a:cs typeface="Calibri"/>
              <a:sym typeface="Calibri"/>
            </a:endParaRPr>
          </a:p>
          <a:p>
            <a:pPr indent="-342900" lvl="0" marL="342900" marR="0" rtl="0" algn="l">
              <a:lnSpc>
                <a:spcPct val="115000"/>
              </a:lnSpc>
              <a:spcBef>
                <a:spcPts val="1200"/>
              </a:spcBef>
              <a:spcAft>
                <a:spcPts val="0"/>
              </a:spcAft>
              <a:buClr>
                <a:srgbClr val="1B2333"/>
              </a:buClr>
              <a:buSzPts val="1300"/>
              <a:buFont typeface="Calibri"/>
              <a:buChar char="•"/>
            </a:pPr>
            <a:r>
              <a:rPr b="0" i="0" lang="en-US" sz="1300" u="none" cap="none" strike="noStrike">
                <a:solidFill>
                  <a:srgbClr val="1B2333"/>
                </a:solidFill>
                <a:latin typeface="Calibri"/>
                <a:ea typeface="Calibri"/>
                <a:cs typeface="Calibri"/>
                <a:sym typeface="Calibri"/>
              </a:rPr>
              <a:t>tests/e2e/ leaves room for future test categories (api/, visual/) without reorganizing the root.</a:t>
            </a:r>
            <a:endParaRPr b="0" i="0" sz="1300" u="none" cap="none" strike="noStrike">
              <a:solidFill>
                <a:schemeClr val="dk1"/>
              </a:solidFill>
              <a:latin typeface="Calibri"/>
              <a:ea typeface="Calibri"/>
              <a:cs typeface="Calibri"/>
              <a:sym typeface="Calibri"/>
            </a:endParaRPr>
          </a:p>
        </p:txBody>
      </p:sp>
      <p:sp>
        <p:nvSpPr>
          <p:cNvPr id="118" name="Google Shape;118;p4"/>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119" name="Google Shape;119;p4"/>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24" name="Shape 124"/>
        <p:cNvGrpSpPr/>
        <p:nvPr/>
      </p:nvGrpSpPr>
      <p:grpSpPr>
        <a:xfrm>
          <a:off x="0" y="0"/>
          <a:ext cx="0" cy="0"/>
          <a:chOff x="0" y="0"/>
          <a:chExt cx="0" cy="0"/>
        </a:xfrm>
      </p:grpSpPr>
      <p:sp>
        <p:nvSpPr>
          <p:cNvPr id="125" name="Google Shape;125;p5"/>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990011"/>
                </a:solidFill>
                <a:latin typeface="Calibri"/>
                <a:ea typeface="Calibri"/>
                <a:cs typeface="Calibri"/>
                <a:sym typeface="Calibri"/>
              </a:rPr>
              <a:t>DECISIONS</a:t>
            </a:r>
            <a:endParaRPr b="0" i="0" sz="1300" u="none" cap="none" strike="noStrike">
              <a:solidFill>
                <a:schemeClr val="dk1"/>
              </a:solidFill>
              <a:latin typeface="Calibri"/>
              <a:ea typeface="Calibri"/>
              <a:cs typeface="Calibri"/>
              <a:sym typeface="Calibri"/>
            </a:endParaRPr>
          </a:p>
        </p:txBody>
      </p:sp>
      <p:sp>
        <p:nvSpPr>
          <p:cNvPr id="126" name="Google Shape;126;p5"/>
          <p:cNvSpPr/>
          <p:nvPr/>
        </p:nvSpPr>
        <p:spPr>
          <a:xfrm>
            <a:off x="548640" y="65836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Key design decisions</a:t>
            </a:r>
            <a:endParaRPr b="0" i="0" sz="3000" u="none" cap="none" strike="noStrike">
              <a:solidFill>
                <a:schemeClr val="dk1"/>
              </a:solidFill>
              <a:latin typeface="Calibri"/>
              <a:ea typeface="Calibri"/>
              <a:cs typeface="Calibri"/>
              <a:sym typeface="Calibri"/>
            </a:endParaRPr>
          </a:p>
        </p:txBody>
      </p:sp>
      <p:sp>
        <p:nvSpPr>
          <p:cNvPr id="127" name="Google Shape;127;p5"/>
          <p:cNvSpPr/>
          <p:nvPr/>
        </p:nvSpPr>
        <p:spPr>
          <a:xfrm>
            <a:off x="548640" y="1417320"/>
            <a:ext cx="5257800" cy="1965960"/>
          </a:xfrm>
          <a:prstGeom prst="roundRect">
            <a:avLst>
              <a:gd fmla="val 3256"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822960" y="169164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layers_CADCFC.png" id="129" name="Google Shape;129;p5"/>
          <p:cNvPicPr preferRelativeResize="0"/>
          <p:nvPr/>
        </p:nvPicPr>
        <p:blipFill rotWithShape="1">
          <a:blip r:embed="rId3">
            <a:alphaModFix/>
          </a:blip>
          <a:srcRect b="0" l="0" r="0" t="0"/>
          <a:stretch/>
        </p:blipFill>
        <p:spPr>
          <a:xfrm>
            <a:off x="977494" y="1846174"/>
            <a:ext cx="285293" cy="285293"/>
          </a:xfrm>
          <a:prstGeom prst="rect">
            <a:avLst/>
          </a:prstGeom>
          <a:noFill/>
          <a:ln>
            <a:noFill/>
          </a:ln>
        </p:spPr>
      </p:pic>
      <p:sp>
        <p:nvSpPr>
          <p:cNvPr id="130" name="Google Shape;130;p5"/>
          <p:cNvSpPr/>
          <p:nvPr/>
        </p:nvSpPr>
        <p:spPr>
          <a:xfrm>
            <a:off x="1600200" y="169164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50"/>
              <a:buFont typeface="Cambria"/>
              <a:buNone/>
            </a:pPr>
            <a:r>
              <a:rPr b="1" i="0" lang="en-US" sz="1450" u="none" cap="none" strike="noStrike">
                <a:solidFill>
                  <a:srgbClr val="1B2333"/>
                </a:solidFill>
                <a:latin typeface="Cambria"/>
                <a:ea typeface="Cambria"/>
                <a:cs typeface="Cambria"/>
                <a:sym typeface="Cambria"/>
              </a:rPr>
              <a:t>Page Objects without assertions</a:t>
            </a:r>
            <a:endParaRPr b="0" i="0" sz="1450" u="none" cap="none" strike="noStrike">
              <a:solidFill>
                <a:schemeClr val="dk1"/>
              </a:solidFill>
              <a:latin typeface="Calibri"/>
              <a:ea typeface="Calibri"/>
              <a:cs typeface="Calibri"/>
              <a:sym typeface="Calibri"/>
            </a:endParaRPr>
          </a:p>
        </p:txBody>
      </p:sp>
      <p:sp>
        <p:nvSpPr>
          <p:cNvPr id="131" name="Google Shape;131;p5"/>
          <p:cNvSpPr/>
          <p:nvPr/>
        </p:nvSpPr>
        <p:spPr>
          <a:xfrm>
            <a:off x="822960" y="2331720"/>
            <a:ext cx="4709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Assertions live exclusively in tests/. If a Page Object validates, it stops being reusable.</a:t>
            </a:r>
            <a:endParaRPr b="0" i="0" sz="1150" u="none" cap="none" strike="noStrike">
              <a:solidFill>
                <a:schemeClr val="dk1"/>
              </a:solidFill>
              <a:latin typeface="Calibri"/>
              <a:ea typeface="Calibri"/>
              <a:cs typeface="Calibri"/>
              <a:sym typeface="Calibri"/>
            </a:endParaRPr>
          </a:p>
        </p:txBody>
      </p:sp>
      <p:sp>
        <p:nvSpPr>
          <p:cNvPr id="132" name="Google Shape;132;p5"/>
          <p:cNvSpPr/>
          <p:nvPr/>
        </p:nvSpPr>
        <p:spPr>
          <a:xfrm>
            <a:off x="6080760" y="1417320"/>
            <a:ext cx="5257800" cy="1965960"/>
          </a:xfrm>
          <a:prstGeom prst="roundRect">
            <a:avLst>
              <a:gd fmla="val 3256"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6355080" y="169164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gs_CADCFC.png" id="134" name="Google Shape;134;p5"/>
          <p:cNvPicPr preferRelativeResize="0"/>
          <p:nvPr/>
        </p:nvPicPr>
        <p:blipFill rotWithShape="1">
          <a:blip r:embed="rId4">
            <a:alphaModFix/>
          </a:blip>
          <a:srcRect b="0" l="0" r="0" t="0"/>
          <a:stretch/>
        </p:blipFill>
        <p:spPr>
          <a:xfrm>
            <a:off x="6509614" y="1846174"/>
            <a:ext cx="285293" cy="285293"/>
          </a:xfrm>
          <a:prstGeom prst="rect">
            <a:avLst/>
          </a:prstGeom>
          <a:noFill/>
          <a:ln>
            <a:noFill/>
          </a:ln>
        </p:spPr>
      </p:pic>
      <p:sp>
        <p:nvSpPr>
          <p:cNvPr id="135" name="Google Shape;135;p5"/>
          <p:cNvSpPr/>
          <p:nvPr/>
        </p:nvSpPr>
        <p:spPr>
          <a:xfrm>
            <a:off x="7132320" y="169164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50"/>
              <a:buFont typeface="Cambria"/>
              <a:buNone/>
            </a:pPr>
            <a:r>
              <a:rPr b="1" i="0" lang="en-US" sz="1450" u="none" cap="none" strike="noStrike">
                <a:solidFill>
                  <a:srgbClr val="1B2333"/>
                </a:solidFill>
                <a:latin typeface="Cambria"/>
                <a:ea typeface="Cambria"/>
                <a:cs typeface="Cambria"/>
                <a:sym typeface="Cambria"/>
              </a:rPr>
              <a:t>Fixtures for automatic injection</a:t>
            </a:r>
            <a:endParaRPr b="0" i="0" sz="1450" u="none" cap="none" strike="noStrike">
              <a:solidFill>
                <a:schemeClr val="dk1"/>
              </a:solidFill>
              <a:latin typeface="Calibri"/>
              <a:ea typeface="Calibri"/>
              <a:cs typeface="Calibri"/>
              <a:sym typeface="Calibri"/>
            </a:endParaRPr>
          </a:p>
        </p:txBody>
      </p:sp>
      <p:sp>
        <p:nvSpPr>
          <p:cNvPr id="136" name="Google Shape;136;p5"/>
          <p:cNvSpPr/>
          <p:nvPr/>
        </p:nvSpPr>
        <p:spPr>
          <a:xfrm>
            <a:off x="6355080" y="2331720"/>
            <a:ext cx="4709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Playwright's base test was extended to inject all 4 Page Objects, avoiding new LoginPage(page) in every test.</a:t>
            </a:r>
            <a:endParaRPr b="0" i="0" sz="1150" u="none" cap="none" strike="noStrike">
              <a:solidFill>
                <a:schemeClr val="dk1"/>
              </a:solidFill>
              <a:latin typeface="Calibri"/>
              <a:ea typeface="Calibri"/>
              <a:cs typeface="Calibri"/>
              <a:sym typeface="Calibri"/>
            </a:endParaRPr>
          </a:p>
        </p:txBody>
      </p:sp>
      <p:sp>
        <p:nvSpPr>
          <p:cNvPr id="137" name="Google Shape;137;p5"/>
          <p:cNvSpPr/>
          <p:nvPr/>
        </p:nvSpPr>
        <p:spPr>
          <a:xfrm>
            <a:off x="548640" y="3657600"/>
            <a:ext cx="5257800" cy="1965960"/>
          </a:xfrm>
          <a:prstGeom prst="roundRect">
            <a:avLst>
              <a:gd fmla="val 3256"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822960" y="393192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database_CADCFC.png" id="139" name="Google Shape;139;p5"/>
          <p:cNvPicPr preferRelativeResize="0"/>
          <p:nvPr/>
        </p:nvPicPr>
        <p:blipFill rotWithShape="1">
          <a:blip r:embed="rId5">
            <a:alphaModFix/>
          </a:blip>
          <a:srcRect b="0" l="0" r="0" t="0"/>
          <a:stretch/>
        </p:blipFill>
        <p:spPr>
          <a:xfrm>
            <a:off x="977494" y="4086454"/>
            <a:ext cx="285293" cy="285293"/>
          </a:xfrm>
          <a:prstGeom prst="rect">
            <a:avLst/>
          </a:prstGeom>
          <a:noFill/>
          <a:ln>
            <a:noFill/>
          </a:ln>
        </p:spPr>
      </p:pic>
      <p:sp>
        <p:nvSpPr>
          <p:cNvPr id="140" name="Google Shape;140;p5"/>
          <p:cNvSpPr/>
          <p:nvPr/>
        </p:nvSpPr>
        <p:spPr>
          <a:xfrm>
            <a:off x="1600200" y="393192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50"/>
              <a:buFont typeface="Cambria"/>
              <a:buNone/>
            </a:pPr>
            <a:r>
              <a:rPr b="1" i="0" lang="en-US" sz="1450" u="none" cap="none" strike="noStrike">
                <a:solidFill>
                  <a:srgbClr val="1B2333"/>
                </a:solidFill>
                <a:latin typeface="Cambria"/>
                <a:ea typeface="Cambria"/>
                <a:cs typeface="Cambria"/>
                <a:sym typeface="Cambria"/>
              </a:rPr>
              <a:t>data/ folder kept apart from tests/</a:t>
            </a:r>
            <a:endParaRPr b="0" i="0" sz="1450" u="none" cap="none" strike="noStrike">
              <a:solidFill>
                <a:schemeClr val="dk1"/>
              </a:solidFill>
              <a:latin typeface="Calibri"/>
              <a:ea typeface="Calibri"/>
              <a:cs typeface="Calibri"/>
              <a:sym typeface="Calibri"/>
            </a:endParaRPr>
          </a:p>
        </p:txBody>
      </p:sp>
      <p:sp>
        <p:nvSpPr>
          <p:cNvPr id="141" name="Google Shape;141;p5"/>
          <p:cNvSpPr/>
          <p:nvPr/>
        </p:nvSpPr>
        <p:spPr>
          <a:xfrm>
            <a:off x="822960" y="4572000"/>
            <a:ext cx="4709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Anticipates AI work: the dynamic generation script feeds checkout.data.ts without touching test logic.</a:t>
            </a:r>
            <a:endParaRPr b="0" i="0" sz="1150" u="none" cap="none" strike="noStrike">
              <a:solidFill>
                <a:schemeClr val="dk1"/>
              </a:solidFill>
              <a:latin typeface="Calibri"/>
              <a:ea typeface="Calibri"/>
              <a:cs typeface="Calibri"/>
              <a:sym typeface="Calibri"/>
            </a:endParaRPr>
          </a:p>
        </p:txBody>
      </p:sp>
      <p:sp>
        <p:nvSpPr>
          <p:cNvPr id="142" name="Google Shape;142;p5"/>
          <p:cNvSpPr/>
          <p:nvPr/>
        </p:nvSpPr>
        <p:spPr>
          <a:xfrm>
            <a:off x="6080760" y="3657600"/>
            <a:ext cx="5257800" cy="1965960"/>
          </a:xfrm>
          <a:prstGeom prst="roundRect">
            <a:avLst>
              <a:gd fmla="val 3256"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6355080" y="393192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ox_CADCFC.png" id="144" name="Google Shape;144;p5"/>
          <p:cNvPicPr preferRelativeResize="0"/>
          <p:nvPr/>
        </p:nvPicPr>
        <p:blipFill rotWithShape="1">
          <a:blip r:embed="rId6">
            <a:alphaModFix/>
          </a:blip>
          <a:srcRect b="0" l="0" r="0" t="0"/>
          <a:stretch/>
        </p:blipFill>
        <p:spPr>
          <a:xfrm>
            <a:off x="6509614" y="4086454"/>
            <a:ext cx="285293" cy="285293"/>
          </a:xfrm>
          <a:prstGeom prst="rect">
            <a:avLst/>
          </a:prstGeom>
          <a:noFill/>
          <a:ln>
            <a:noFill/>
          </a:ln>
        </p:spPr>
      </p:pic>
      <p:sp>
        <p:nvSpPr>
          <p:cNvPr id="145" name="Google Shape;145;p5"/>
          <p:cNvSpPr/>
          <p:nvPr/>
        </p:nvSpPr>
        <p:spPr>
          <a:xfrm>
            <a:off x="7132320" y="393192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50"/>
              <a:buFont typeface="Cambria"/>
              <a:buNone/>
            </a:pPr>
            <a:r>
              <a:rPr b="1" i="0" lang="en-US" sz="1450" u="none" cap="none" strike="noStrike">
                <a:solidFill>
                  <a:srgbClr val="1B2333"/>
                </a:solidFill>
                <a:latin typeface="Cambria"/>
                <a:ea typeface="Cambria"/>
                <a:cs typeface="Cambria"/>
                <a:sym typeface="Cambria"/>
              </a:rPr>
              <a:t>Shared types (types/index.ts)</a:t>
            </a:r>
            <a:endParaRPr b="0" i="0" sz="1450" u="none" cap="none" strike="noStrike">
              <a:solidFill>
                <a:schemeClr val="dk1"/>
              </a:solidFill>
              <a:latin typeface="Calibri"/>
              <a:ea typeface="Calibri"/>
              <a:cs typeface="Calibri"/>
              <a:sym typeface="Calibri"/>
            </a:endParaRPr>
          </a:p>
        </p:txBody>
      </p:sp>
      <p:sp>
        <p:nvSpPr>
          <p:cNvPr id="146" name="Google Shape;146;p5"/>
          <p:cNvSpPr/>
          <p:nvPr/>
        </p:nvSpPr>
        <p:spPr>
          <a:xfrm>
            <a:off x="6355080" y="4572000"/>
            <a:ext cx="4709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User and CheckoutInfo are defined once and reused across data and Page Objects — avoids interface duplication.</a:t>
            </a:r>
            <a:endParaRPr b="0" i="0" sz="1150" u="none" cap="none" strike="noStrike">
              <a:solidFill>
                <a:schemeClr val="dk1"/>
              </a:solidFill>
              <a:latin typeface="Calibri"/>
              <a:ea typeface="Calibri"/>
              <a:cs typeface="Calibri"/>
              <a:sym typeface="Calibri"/>
            </a:endParaRPr>
          </a:p>
        </p:txBody>
      </p:sp>
      <p:sp>
        <p:nvSpPr>
          <p:cNvPr id="147" name="Google Shape;147;p5"/>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148" name="Google Shape;148;p5"/>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53" name="Shape 153"/>
        <p:cNvGrpSpPr/>
        <p:nvPr/>
      </p:nvGrpSpPr>
      <p:grpSpPr>
        <a:xfrm>
          <a:off x="0" y="0"/>
          <a:ext cx="0" cy="0"/>
          <a:chOff x="0" y="0"/>
          <a:chExt cx="0" cy="0"/>
        </a:xfrm>
      </p:grpSpPr>
      <p:sp>
        <p:nvSpPr>
          <p:cNvPr id="154" name="Google Shape;154;p6"/>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990011"/>
                </a:solidFill>
                <a:latin typeface="Calibri"/>
                <a:ea typeface="Calibri"/>
                <a:cs typeface="Calibri"/>
                <a:sym typeface="Calibri"/>
              </a:rPr>
              <a:t>CONFIGURATION</a:t>
            </a:r>
            <a:endParaRPr b="0" i="0" sz="1300" u="none" cap="none" strike="noStrike">
              <a:solidFill>
                <a:schemeClr val="dk1"/>
              </a:solidFill>
              <a:latin typeface="Calibri"/>
              <a:ea typeface="Calibri"/>
              <a:cs typeface="Calibri"/>
              <a:sym typeface="Calibri"/>
            </a:endParaRPr>
          </a:p>
        </p:txBody>
      </p:sp>
      <p:sp>
        <p:nvSpPr>
          <p:cNvPr id="155" name="Google Shape;155;p6"/>
          <p:cNvSpPr/>
          <p:nvPr/>
        </p:nvSpPr>
        <p:spPr>
          <a:xfrm>
            <a:off x="548640" y="65836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playwright.config.ts: parallelism + resilience</a:t>
            </a:r>
            <a:endParaRPr b="0" i="0" sz="3000" u="none" cap="none" strike="noStrike">
              <a:solidFill>
                <a:schemeClr val="dk1"/>
              </a:solidFill>
              <a:latin typeface="Calibri"/>
              <a:ea typeface="Calibri"/>
              <a:cs typeface="Calibri"/>
              <a:sym typeface="Calibri"/>
            </a:endParaRPr>
          </a:p>
        </p:txBody>
      </p:sp>
      <p:graphicFrame>
        <p:nvGraphicFramePr>
          <p:cNvPr id="156" name="Google Shape;156;p6"/>
          <p:cNvGraphicFramePr/>
          <p:nvPr/>
        </p:nvGraphicFramePr>
        <p:xfrm>
          <a:off x="548640" y="1417320"/>
          <a:ext cx="3000000" cy="3000000"/>
        </p:xfrm>
        <a:graphic>
          <a:graphicData uri="http://schemas.openxmlformats.org/drawingml/2006/table">
            <a:tbl>
              <a:tblPr>
                <a:noFill/>
                <a:tableStyleId>{46E8F449-3ECA-411C-8EBB-F13C8BF71A22}</a:tableStyleId>
              </a:tblPr>
              <a:tblGrid>
                <a:gridCol w="2926075"/>
                <a:gridCol w="2377450"/>
                <a:gridCol w="5760725"/>
              </a:tblGrid>
              <a:tr h="58782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Setting</a:t>
                      </a:r>
                      <a:endParaRPr sz="1200" u="none" cap="none" strike="noStrike">
                        <a:latin typeface="Calibri"/>
                        <a:ea typeface="Calibri"/>
                        <a:cs typeface="Calibri"/>
                        <a:sym typeface="Calibri"/>
                      </a:endParaRPr>
                    </a:p>
                  </a:txBody>
                  <a:tcPr marT="45725" marB="45725" marR="91450" marL="91450">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Value</a:t>
                      </a:r>
                      <a:endParaRPr sz="1200" u="none" cap="none" strike="noStrike">
                        <a:latin typeface="Calibri"/>
                        <a:ea typeface="Calibri"/>
                        <a:cs typeface="Calibri"/>
                        <a:sym typeface="Calibri"/>
                      </a:endParaRPr>
                    </a:p>
                  </a:txBody>
                  <a:tcPr marT="45725" marB="45725" marR="91450" marL="91450">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Justification</a:t>
                      </a:r>
                      <a:endParaRPr sz="1200" u="none" cap="none" strike="noStrike">
                        <a:latin typeface="Calibri"/>
                        <a:ea typeface="Calibri"/>
                        <a:cs typeface="Calibri"/>
                        <a:sym typeface="Calibri"/>
                      </a:endParaRPr>
                    </a:p>
                  </a:txBody>
                  <a:tcPr marT="45725" marB="45725" marR="91450" marL="91450">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1E2761"/>
                    </a:solidFill>
                  </a:tcPr>
                </a:tc>
              </a:tr>
              <a:tr h="587825">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fullyParallel</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true</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Cuts total time: 7 tests in 3-8s with 3-4 workers</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r>
              <a:tr h="587825">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workers (CI / local)</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2 / unlimited</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Avoids saturating shared runners vs. using all local cores</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r>
              <a:tr h="587825">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retries (CI / local)</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2 / 1</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More aggressive in CI due to higher network/infra variability</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r>
              <a:tr h="587825">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trace</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retain-on-failure</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Evidence saved only on failure — avoids bloating storage</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r>
              <a:tr h="587825">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screenshot / video</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only/retain-on-failure</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Automatic visual evidence for Allure, no manual steps</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r>
              <a:tr h="587825">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forbidOnly (CI)</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true</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333"/>
                        </a:buClr>
                        <a:buSzPts val="1150"/>
                        <a:buFont typeface="Calibri"/>
                        <a:buNone/>
                      </a:pPr>
                      <a:r>
                        <a:rPr lang="en-US" sz="1150" u="none" cap="none" strike="noStrike">
                          <a:solidFill>
                            <a:srgbClr val="1B2333"/>
                          </a:solidFill>
                          <a:latin typeface="Calibri"/>
                          <a:ea typeface="Calibri"/>
                          <a:cs typeface="Calibri"/>
                          <a:sym typeface="Calibri"/>
                        </a:rPr>
                        <a:t>Stops a forgotten test.only() from limiting the full suite in production</a:t>
                      </a:r>
                      <a:endParaRPr sz="115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r>
            </a:tbl>
          </a:graphicData>
        </a:graphic>
      </p:graphicFrame>
      <p:sp>
        <p:nvSpPr>
          <p:cNvPr id="157" name="Google Shape;157;p6"/>
          <p:cNvSpPr/>
          <p:nvPr/>
        </p:nvSpPr>
        <p:spPr>
          <a:xfrm>
            <a:off x="548640" y="5806440"/>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200"/>
              <a:buFont typeface="Calibri"/>
              <a:buNone/>
            </a:pPr>
            <a:r>
              <a:rPr b="0" i="1" lang="en-US" sz="1200" u="none" cap="none" strike="noStrike">
                <a:solidFill>
                  <a:srgbClr val="5A6478"/>
                </a:solidFill>
                <a:latin typeface="Calibri"/>
                <a:ea typeface="Calibri"/>
                <a:cs typeface="Calibri"/>
                <a:sym typeface="Calibri"/>
              </a:rPr>
              <a:t>Reporters: list (console) · allure-playwright (evidence) · json (input for the AI script) · html (browsable)</a:t>
            </a:r>
            <a:endParaRPr b="0" i="0" sz="1200" u="none" cap="none" strike="noStrike">
              <a:solidFill>
                <a:schemeClr val="dk1"/>
              </a:solidFill>
              <a:latin typeface="Calibri"/>
              <a:ea typeface="Calibri"/>
              <a:cs typeface="Calibri"/>
              <a:sym typeface="Calibri"/>
            </a:endParaRPr>
          </a:p>
        </p:txBody>
      </p:sp>
      <p:sp>
        <p:nvSpPr>
          <p:cNvPr id="158" name="Google Shape;158;p6"/>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159" name="Google Shape;159;p6"/>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64" name="Shape 164"/>
        <p:cNvGrpSpPr/>
        <p:nvPr/>
      </p:nvGrpSpPr>
      <p:grpSpPr>
        <a:xfrm>
          <a:off x="0" y="0"/>
          <a:ext cx="0" cy="0"/>
          <a:chOff x="0" y="0"/>
          <a:chExt cx="0" cy="0"/>
        </a:xfrm>
      </p:grpSpPr>
      <p:sp>
        <p:nvSpPr>
          <p:cNvPr id="165" name="Google Shape;165;p7"/>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990011"/>
                </a:solidFill>
                <a:latin typeface="Calibri"/>
                <a:ea typeface="Calibri"/>
                <a:cs typeface="Calibri"/>
                <a:sym typeface="Calibri"/>
              </a:rPr>
              <a:t>COVERAGE</a:t>
            </a:r>
            <a:endParaRPr b="0" i="0" sz="1300" u="none" cap="none" strike="noStrike">
              <a:solidFill>
                <a:schemeClr val="dk1"/>
              </a:solidFill>
              <a:latin typeface="Calibri"/>
              <a:ea typeface="Calibri"/>
              <a:cs typeface="Calibri"/>
              <a:sym typeface="Calibri"/>
            </a:endParaRPr>
          </a:p>
        </p:txBody>
      </p:sp>
      <p:sp>
        <p:nvSpPr>
          <p:cNvPr id="166" name="Google Shape;166;p7"/>
          <p:cNvSpPr/>
          <p:nvPr/>
        </p:nvSpPr>
        <p:spPr>
          <a:xfrm>
            <a:off x="548640" y="65836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7 core tests — happy path, negatives and data-driven</a:t>
            </a:r>
            <a:endParaRPr b="0" i="0" sz="3000" u="none" cap="none" strike="noStrike">
              <a:solidFill>
                <a:schemeClr val="dk1"/>
              </a:solidFill>
              <a:latin typeface="Calibri"/>
              <a:ea typeface="Calibri"/>
              <a:cs typeface="Calibri"/>
              <a:sym typeface="Calibri"/>
            </a:endParaRPr>
          </a:p>
        </p:txBody>
      </p:sp>
      <p:sp>
        <p:nvSpPr>
          <p:cNvPr id="167" name="Google Shape;167;p7"/>
          <p:cNvSpPr/>
          <p:nvPr/>
        </p:nvSpPr>
        <p:spPr>
          <a:xfrm>
            <a:off x="548640" y="1463040"/>
            <a:ext cx="2011680" cy="777240"/>
          </a:xfrm>
          <a:prstGeom prst="roundRect">
            <a:avLst>
              <a:gd fmla="val 41176"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548640" y="1463040"/>
            <a:ext cx="20116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Login</a:t>
            </a:r>
            <a:endParaRPr b="0" i="0" sz="1150" u="none" cap="none" strike="noStrike">
              <a:solidFill>
                <a:schemeClr val="dk1"/>
              </a:solidFill>
              <a:latin typeface="Calibri"/>
              <a:ea typeface="Calibri"/>
              <a:cs typeface="Calibri"/>
              <a:sym typeface="Calibri"/>
            </a:endParaRPr>
          </a:p>
        </p:txBody>
      </p:sp>
      <p:sp>
        <p:nvSpPr>
          <p:cNvPr id="169" name="Google Shape;169;p7"/>
          <p:cNvSpPr/>
          <p:nvPr/>
        </p:nvSpPr>
        <p:spPr>
          <a:xfrm>
            <a:off x="2560320" y="1463040"/>
            <a:ext cx="256032"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8"/>
              </a:buClr>
              <a:buSzPts val="1600"/>
              <a:buFont typeface="Arial"/>
              <a:buNone/>
            </a:pPr>
            <a:r>
              <a:rPr b="0" i="0" lang="en-US" sz="1600" u="none" cap="none" strike="noStrike">
                <a:solidFill>
                  <a:srgbClr val="5A6478"/>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170" name="Google Shape;170;p7"/>
          <p:cNvSpPr/>
          <p:nvPr/>
        </p:nvSpPr>
        <p:spPr>
          <a:xfrm>
            <a:off x="2816352" y="1463040"/>
            <a:ext cx="2011680" cy="777240"/>
          </a:xfrm>
          <a:prstGeom prst="roundRect">
            <a:avLst>
              <a:gd fmla="val 41176"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2816352" y="1463040"/>
            <a:ext cx="20116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Add 2 products</a:t>
            </a:r>
            <a:endParaRPr b="0" i="0" sz="1150" u="none" cap="none" strike="noStrike">
              <a:solidFill>
                <a:schemeClr val="dk1"/>
              </a:solidFill>
              <a:latin typeface="Calibri"/>
              <a:ea typeface="Calibri"/>
              <a:cs typeface="Calibri"/>
              <a:sym typeface="Calibri"/>
            </a:endParaRPr>
          </a:p>
        </p:txBody>
      </p:sp>
      <p:sp>
        <p:nvSpPr>
          <p:cNvPr id="172" name="Google Shape;172;p7"/>
          <p:cNvSpPr/>
          <p:nvPr/>
        </p:nvSpPr>
        <p:spPr>
          <a:xfrm>
            <a:off x="4828032" y="1463040"/>
            <a:ext cx="256032"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8"/>
              </a:buClr>
              <a:buSzPts val="1600"/>
              <a:buFont typeface="Arial"/>
              <a:buNone/>
            </a:pPr>
            <a:r>
              <a:rPr b="0" i="0" lang="en-US" sz="1600" u="none" cap="none" strike="noStrike">
                <a:solidFill>
                  <a:srgbClr val="5A6478"/>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173" name="Google Shape;173;p7"/>
          <p:cNvSpPr/>
          <p:nvPr/>
        </p:nvSpPr>
        <p:spPr>
          <a:xfrm>
            <a:off x="5084064" y="1463040"/>
            <a:ext cx="2011680" cy="777240"/>
          </a:xfrm>
          <a:prstGeom prst="roundRect">
            <a:avLst>
              <a:gd fmla="val 41176"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5084064" y="1463040"/>
            <a:ext cx="20116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Cart (2 items)</a:t>
            </a:r>
            <a:endParaRPr b="0" i="0" sz="1150" u="none" cap="none" strike="noStrike">
              <a:solidFill>
                <a:schemeClr val="dk1"/>
              </a:solidFill>
              <a:latin typeface="Calibri"/>
              <a:ea typeface="Calibri"/>
              <a:cs typeface="Calibri"/>
              <a:sym typeface="Calibri"/>
            </a:endParaRPr>
          </a:p>
        </p:txBody>
      </p:sp>
      <p:sp>
        <p:nvSpPr>
          <p:cNvPr id="175" name="Google Shape;175;p7"/>
          <p:cNvSpPr/>
          <p:nvPr/>
        </p:nvSpPr>
        <p:spPr>
          <a:xfrm>
            <a:off x="7095744" y="1463040"/>
            <a:ext cx="256032"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8"/>
              </a:buClr>
              <a:buSzPts val="1600"/>
              <a:buFont typeface="Arial"/>
              <a:buNone/>
            </a:pPr>
            <a:r>
              <a:rPr b="0" i="0" lang="en-US" sz="1600" u="none" cap="none" strike="noStrike">
                <a:solidFill>
                  <a:srgbClr val="5A6478"/>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176" name="Google Shape;176;p7"/>
          <p:cNvSpPr/>
          <p:nvPr/>
        </p:nvSpPr>
        <p:spPr>
          <a:xfrm>
            <a:off x="7351776" y="1463040"/>
            <a:ext cx="2011680" cy="777240"/>
          </a:xfrm>
          <a:prstGeom prst="roundRect">
            <a:avLst>
              <a:gd fmla="val 41176"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p:nvPr/>
        </p:nvSpPr>
        <p:spPr>
          <a:xfrm>
            <a:off x="7351776" y="1463040"/>
            <a:ext cx="20116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Checkout</a:t>
            </a:r>
            <a:endParaRPr b="0" i="0" sz="1150" u="none" cap="none" strike="noStrike">
              <a:solidFill>
                <a:schemeClr val="dk1"/>
              </a:solidFill>
              <a:latin typeface="Calibri"/>
              <a:ea typeface="Calibri"/>
              <a:cs typeface="Calibri"/>
              <a:sym typeface="Calibri"/>
            </a:endParaRPr>
          </a:p>
        </p:txBody>
      </p:sp>
      <p:sp>
        <p:nvSpPr>
          <p:cNvPr id="178" name="Google Shape;178;p7"/>
          <p:cNvSpPr/>
          <p:nvPr/>
        </p:nvSpPr>
        <p:spPr>
          <a:xfrm>
            <a:off x="9363456" y="1463040"/>
            <a:ext cx="256032"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8"/>
              </a:buClr>
              <a:buSzPts val="1600"/>
              <a:buFont typeface="Arial"/>
              <a:buNone/>
            </a:pPr>
            <a:r>
              <a:rPr b="0" i="0" lang="en-US" sz="1600" u="none" cap="none" strike="noStrike">
                <a:solidFill>
                  <a:srgbClr val="5A6478"/>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179" name="Google Shape;179;p7"/>
          <p:cNvSpPr/>
          <p:nvPr/>
        </p:nvSpPr>
        <p:spPr>
          <a:xfrm>
            <a:off x="9619488" y="1463040"/>
            <a:ext cx="2011680" cy="777240"/>
          </a:xfrm>
          <a:prstGeom prst="roundRect">
            <a:avLst>
              <a:gd fmla="val 41176" name="adj"/>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9619488" y="1463040"/>
            <a:ext cx="20116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Confirmation</a:t>
            </a:r>
            <a:endParaRPr b="0" i="0" sz="1150" u="none" cap="none" strike="noStrike">
              <a:solidFill>
                <a:schemeClr val="dk1"/>
              </a:solidFill>
              <a:latin typeface="Calibri"/>
              <a:ea typeface="Calibri"/>
              <a:cs typeface="Calibri"/>
              <a:sym typeface="Calibri"/>
            </a:endParaRPr>
          </a:p>
        </p:txBody>
      </p:sp>
      <p:sp>
        <p:nvSpPr>
          <p:cNvPr id="181" name="Google Shape;181;p7"/>
          <p:cNvSpPr/>
          <p:nvPr/>
        </p:nvSpPr>
        <p:spPr>
          <a:xfrm>
            <a:off x="548640" y="23317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1" lang="en-US" sz="1150" u="none" cap="none" strike="noStrike">
                <a:solidFill>
                  <a:srgbClr val="5A6478"/>
                </a:solidFill>
                <a:latin typeface="Calibri"/>
                <a:ea typeface="Calibri"/>
                <a:cs typeface="Calibri"/>
                <a:sym typeface="Calibri"/>
              </a:rPr>
              <a:t>purchase.spec.ts — complete happy path (1 test)</a:t>
            </a:r>
            <a:endParaRPr b="0" i="0" sz="1150" u="none" cap="none" strike="noStrike">
              <a:solidFill>
                <a:schemeClr val="dk1"/>
              </a:solidFill>
              <a:latin typeface="Calibri"/>
              <a:ea typeface="Calibri"/>
              <a:cs typeface="Calibri"/>
              <a:sym typeface="Calibri"/>
            </a:endParaRPr>
          </a:p>
        </p:txBody>
      </p:sp>
      <p:graphicFrame>
        <p:nvGraphicFramePr>
          <p:cNvPr id="182" name="Google Shape;182;p7"/>
          <p:cNvGraphicFramePr/>
          <p:nvPr/>
        </p:nvGraphicFramePr>
        <p:xfrm>
          <a:off x="548640" y="2880360"/>
          <a:ext cx="3000000" cy="3000000"/>
        </p:xfrm>
        <a:graphic>
          <a:graphicData uri="http://schemas.openxmlformats.org/drawingml/2006/table">
            <a:tbl>
              <a:tblPr>
                <a:noFill/>
                <a:tableStyleId>{46E8F449-3ECA-411C-8EBB-F13C8BF71A22}</a:tableStyleId>
              </a:tblPr>
              <a:tblGrid>
                <a:gridCol w="2377450"/>
                <a:gridCol w="1005850"/>
                <a:gridCol w="4023350"/>
              </a:tblGrid>
              <a:tr h="4343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File</a:t>
                      </a:r>
                      <a:endParaRPr sz="1200" u="none" cap="none" strike="noStrike">
                        <a:latin typeface="Calibri"/>
                        <a:ea typeface="Calibri"/>
                        <a:cs typeface="Calibri"/>
                        <a:sym typeface="Calibri"/>
                      </a:endParaRPr>
                    </a:p>
                  </a:txBody>
                  <a:tcPr marT="45725" marB="45725" marR="91450" marL="91450">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Count</a:t>
                      </a:r>
                      <a:endParaRPr sz="1200" u="none" cap="none" strike="noStrike">
                        <a:latin typeface="Calibri"/>
                        <a:ea typeface="Calibri"/>
                        <a:cs typeface="Calibri"/>
                        <a:sym typeface="Calibri"/>
                      </a:endParaRPr>
                    </a:p>
                  </a:txBody>
                  <a:tcPr marT="45725" marB="45725" marR="91450" marL="91450">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Detail</a:t>
                      </a:r>
                      <a:endParaRPr sz="1200" u="none" cap="none" strike="noStrike">
                        <a:latin typeface="Calibri"/>
                        <a:ea typeface="Calibri"/>
                        <a:cs typeface="Calibri"/>
                        <a:sym typeface="Calibri"/>
                      </a:endParaRPr>
                    </a:p>
                  </a:txBody>
                  <a:tcPr marT="45725" marB="45725" marR="91450" marL="91450">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1E2761"/>
                    </a:solidFill>
                  </a:tcPr>
                </a:tc>
              </a:tr>
              <a:tr h="434350">
                <a:tc>
                  <a:txBody>
                    <a:bodyPr/>
                    <a:lstStyle/>
                    <a:p>
                      <a:pPr indent="0" lvl="0" marL="0" marR="0" rtl="0" algn="l">
                        <a:spcBef>
                          <a:spcPts val="0"/>
                        </a:spcBef>
                        <a:spcAft>
                          <a:spcPts val="0"/>
                        </a:spcAft>
                        <a:buClr>
                          <a:srgbClr val="1B2333"/>
                        </a:buClr>
                        <a:buSzPts val="1200"/>
                        <a:buFont typeface="Calibri"/>
                        <a:buNone/>
                      </a:pPr>
                      <a:r>
                        <a:rPr lang="en-US" sz="1200" u="none" cap="none" strike="noStrike">
                          <a:solidFill>
                            <a:srgbClr val="1B2333"/>
                          </a:solidFill>
                          <a:latin typeface="Calibri"/>
                          <a:ea typeface="Calibri"/>
                          <a:cs typeface="Calibri"/>
                          <a:sym typeface="Calibri"/>
                        </a:rPr>
                        <a:t>login.spec.ts</a:t>
                      </a:r>
                      <a:endParaRPr sz="120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333"/>
                        </a:buClr>
                        <a:buSzPts val="1200"/>
                        <a:buFont typeface="Calibri"/>
                        <a:buNone/>
                      </a:pPr>
                      <a:r>
                        <a:rPr lang="en-US" sz="1200" u="none" cap="none" strike="noStrike">
                          <a:solidFill>
                            <a:srgbClr val="1B2333"/>
                          </a:solidFill>
                          <a:latin typeface="Calibri"/>
                          <a:ea typeface="Calibri"/>
                          <a:cs typeface="Calibri"/>
                          <a:sym typeface="Calibri"/>
                        </a:rPr>
                        <a:t>3</a:t>
                      </a:r>
                      <a:endParaRPr sz="120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333"/>
                        </a:buClr>
                        <a:buSzPts val="1200"/>
                        <a:buFont typeface="Calibri"/>
                        <a:buNone/>
                      </a:pPr>
                      <a:r>
                        <a:rPr lang="en-US" sz="1200" u="none" cap="none" strike="noStrike">
                          <a:solidFill>
                            <a:srgbClr val="1B2333"/>
                          </a:solidFill>
                          <a:latin typeface="Calibri"/>
                          <a:ea typeface="Calibri"/>
                          <a:cs typeface="Calibri"/>
                          <a:sym typeface="Calibri"/>
                        </a:rPr>
                        <a:t>Negative scenarios: locked_out_user, invalid password, empty fields</a:t>
                      </a:r>
                      <a:endParaRPr sz="120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r>
              <a:tr h="434350">
                <a:tc>
                  <a:txBody>
                    <a:bodyPr/>
                    <a:lstStyle/>
                    <a:p>
                      <a:pPr indent="0" lvl="0" marL="0" marR="0" rtl="0" algn="l">
                        <a:spcBef>
                          <a:spcPts val="0"/>
                        </a:spcBef>
                        <a:spcAft>
                          <a:spcPts val="0"/>
                        </a:spcAft>
                        <a:buClr>
                          <a:srgbClr val="1B2333"/>
                        </a:buClr>
                        <a:buSzPts val="1200"/>
                        <a:buFont typeface="Calibri"/>
                        <a:buNone/>
                      </a:pPr>
                      <a:r>
                        <a:rPr lang="en-US" sz="1200" u="none" cap="none" strike="noStrike">
                          <a:solidFill>
                            <a:srgbClr val="1B2333"/>
                          </a:solidFill>
                          <a:latin typeface="Calibri"/>
                          <a:ea typeface="Calibri"/>
                          <a:cs typeface="Calibri"/>
                          <a:sym typeface="Calibri"/>
                        </a:rPr>
                        <a:t>data-driven.spec.ts</a:t>
                      </a:r>
                      <a:endParaRPr sz="120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333"/>
                        </a:buClr>
                        <a:buSzPts val="1200"/>
                        <a:buFont typeface="Calibri"/>
                        <a:buNone/>
                      </a:pPr>
                      <a:r>
                        <a:rPr lang="en-US" sz="1200" u="none" cap="none" strike="noStrike">
                          <a:solidFill>
                            <a:srgbClr val="1B2333"/>
                          </a:solidFill>
                          <a:latin typeface="Calibri"/>
                          <a:ea typeface="Calibri"/>
                          <a:cs typeface="Calibri"/>
                          <a:sym typeface="Calibri"/>
                        </a:rPr>
                        <a:t>3</a:t>
                      </a:r>
                      <a:endParaRPr sz="120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c>
                  <a:txBody>
                    <a:bodyPr/>
                    <a:lstStyle/>
                    <a:p>
                      <a:pPr indent="0" lvl="0" marL="0" marR="0" rtl="0" algn="l">
                        <a:spcBef>
                          <a:spcPts val="0"/>
                        </a:spcBef>
                        <a:spcAft>
                          <a:spcPts val="0"/>
                        </a:spcAft>
                        <a:buClr>
                          <a:srgbClr val="1B2333"/>
                        </a:buClr>
                        <a:buSzPts val="1200"/>
                        <a:buFont typeface="Calibri"/>
                        <a:buNone/>
                      </a:pPr>
                      <a:r>
                        <a:rPr lang="en-US" sz="1200" u="none" cap="none" strike="noStrike">
                          <a:solidFill>
                            <a:srgbClr val="1B2333"/>
                          </a:solidFill>
                          <a:latin typeface="Calibri"/>
                          <a:ea typeface="Calibri"/>
                          <a:cs typeface="Calibri"/>
                          <a:sym typeface="Calibri"/>
                        </a:rPr>
                        <a:t>Login iterating over standard_user, problem_user, performance_glitch_user</a:t>
                      </a:r>
                      <a:endParaRPr sz="120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7F9FC"/>
                    </a:solidFill>
                  </a:tcPr>
                </a:tc>
              </a:tr>
              <a:tr h="434350">
                <a:tc>
                  <a:txBody>
                    <a:bodyPr/>
                    <a:lstStyle/>
                    <a:p>
                      <a:pPr indent="0" lvl="0" marL="0" marR="0" rtl="0" algn="l">
                        <a:spcBef>
                          <a:spcPts val="0"/>
                        </a:spcBef>
                        <a:spcAft>
                          <a:spcPts val="0"/>
                        </a:spcAft>
                        <a:buClr>
                          <a:srgbClr val="1B2333"/>
                        </a:buClr>
                        <a:buSzPts val="1200"/>
                        <a:buFont typeface="Calibri"/>
                        <a:buNone/>
                      </a:pPr>
                      <a:r>
                        <a:rPr lang="en-US" sz="1200" u="none" cap="none" strike="noStrike">
                          <a:solidFill>
                            <a:srgbClr val="1B2333"/>
                          </a:solidFill>
                          <a:latin typeface="Calibri"/>
                          <a:ea typeface="Calibri"/>
                          <a:cs typeface="Calibri"/>
                          <a:sym typeface="Calibri"/>
                        </a:rPr>
                        <a:t>purchase.spec.ts</a:t>
                      </a:r>
                      <a:endParaRPr sz="120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333"/>
                        </a:buClr>
                        <a:buSzPts val="1200"/>
                        <a:buFont typeface="Calibri"/>
                        <a:buNone/>
                      </a:pPr>
                      <a:r>
                        <a:rPr lang="en-US" sz="1200" u="none" cap="none" strike="noStrike">
                          <a:solidFill>
                            <a:srgbClr val="1B2333"/>
                          </a:solidFill>
                          <a:latin typeface="Calibri"/>
                          <a:ea typeface="Calibri"/>
                          <a:cs typeface="Calibri"/>
                          <a:sym typeface="Calibri"/>
                        </a:rPr>
                        <a:t>1</a:t>
                      </a:r>
                      <a:endParaRPr sz="120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333"/>
                        </a:buClr>
                        <a:buSzPts val="1200"/>
                        <a:buFont typeface="Calibri"/>
                        <a:buNone/>
                      </a:pPr>
                      <a:r>
                        <a:rPr lang="en-US" sz="1200" u="none" cap="none" strike="noStrike">
                          <a:solidFill>
                            <a:srgbClr val="1B2333"/>
                          </a:solidFill>
                          <a:latin typeface="Calibri"/>
                          <a:ea typeface="Calibri"/>
                          <a:cs typeface="Calibri"/>
                          <a:sym typeface="Calibri"/>
                        </a:rPr>
                        <a:t>Happy path: login → 2 products → cart → checkout → confirmation</a:t>
                      </a:r>
                      <a:endParaRPr sz="1200" u="none" cap="none" strike="noStrike">
                        <a:latin typeface="Calibri"/>
                        <a:ea typeface="Calibri"/>
                        <a:cs typeface="Calibri"/>
                        <a:sym typeface="Calibri"/>
                      </a:endParaRPr>
                    </a:p>
                  </a:txBody>
                  <a:tcPr marT="45725" marB="45725" marR="91450" marL="91450" anchor="ctr">
                    <a:lnL cap="flat" cmpd="sng" w="9525">
                      <a:solidFill>
                        <a:srgbClr val="E1E7F5"/>
                      </a:solidFill>
                      <a:prstDash val="solid"/>
                      <a:round/>
                      <a:headEnd len="sm" w="sm" type="none"/>
                      <a:tailEnd len="sm" w="sm" type="none"/>
                    </a:lnL>
                    <a:lnR cap="flat" cmpd="sng" w="9525">
                      <a:solidFill>
                        <a:srgbClr val="E1E7F5"/>
                      </a:solidFill>
                      <a:prstDash val="solid"/>
                      <a:round/>
                      <a:headEnd len="sm" w="sm" type="none"/>
                      <a:tailEnd len="sm" w="sm" type="none"/>
                    </a:lnR>
                    <a:lnT cap="flat" cmpd="sng" w="9525">
                      <a:solidFill>
                        <a:srgbClr val="E1E7F5"/>
                      </a:solidFill>
                      <a:prstDash val="solid"/>
                      <a:round/>
                      <a:headEnd len="sm" w="sm" type="none"/>
                      <a:tailEnd len="sm" w="sm" type="none"/>
                    </a:lnT>
                    <a:lnB cap="flat" cmpd="sng" w="9525">
                      <a:solidFill>
                        <a:srgbClr val="E1E7F5"/>
                      </a:solidFill>
                      <a:prstDash val="solid"/>
                      <a:round/>
                      <a:headEnd len="sm" w="sm" type="none"/>
                      <a:tailEnd len="sm" w="sm" type="none"/>
                    </a:lnB>
                    <a:solidFill>
                      <a:srgbClr val="FFFFFF"/>
                    </a:solidFill>
                  </a:tcPr>
                </a:tc>
              </a:tr>
            </a:tbl>
          </a:graphicData>
        </a:graphic>
      </p:graphicFrame>
      <p:sp>
        <p:nvSpPr>
          <p:cNvPr id="183" name="Google Shape;183;p7"/>
          <p:cNvSpPr/>
          <p:nvPr/>
        </p:nvSpPr>
        <p:spPr>
          <a:xfrm>
            <a:off x="8412350" y="2880340"/>
            <a:ext cx="3383400" cy="3154800"/>
          </a:xfrm>
          <a:prstGeom prst="roundRect">
            <a:avLst>
              <a:gd fmla="val 231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8412350" y="3200380"/>
            <a:ext cx="33834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7 passed</a:t>
            </a:r>
            <a:endParaRPr b="0" i="0" sz="3400" u="none" cap="none" strike="noStrike">
              <a:solidFill>
                <a:schemeClr val="dk1"/>
              </a:solidFill>
              <a:latin typeface="Calibri"/>
              <a:ea typeface="Calibri"/>
              <a:cs typeface="Calibri"/>
              <a:sym typeface="Calibri"/>
            </a:endParaRPr>
          </a:p>
        </p:txBody>
      </p:sp>
      <p:sp>
        <p:nvSpPr>
          <p:cNvPr id="185" name="Google Shape;185;p7"/>
          <p:cNvSpPr/>
          <p:nvPr/>
        </p:nvSpPr>
        <p:spPr>
          <a:xfrm>
            <a:off x="8412350" y="3840460"/>
            <a:ext cx="33834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(7.9s · 4 workers)</a:t>
            </a:r>
            <a:endParaRPr b="0" i="0" sz="1200" u="none" cap="none" strike="noStrike">
              <a:solidFill>
                <a:schemeClr val="dk1"/>
              </a:solidFill>
              <a:latin typeface="Calibri"/>
              <a:ea typeface="Calibri"/>
              <a:cs typeface="Calibri"/>
              <a:sym typeface="Calibri"/>
            </a:endParaRPr>
          </a:p>
        </p:txBody>
      </p:sp>
      <p:cxnSp>
        <p:nvCxnSpPr>
          <p:cNvPr id="186" name="Google Shape;186;p7"/>
          <p:cNvCxnSpPr/>
          <p:nvPr/>
        </p:nvCxnSpPr>
        <p:spPr>
          <a:xfrm>
            <a:off x="8869550" y="4297660"/>
            <a:ext cx="2469000" cy="0"/>
          </a:xfrm>
          <a:prstGeom prst="straightConnector1">
            <a:avLst/>
          </a:prstGeom>
          <a:noFill/>
          <a:ln cap="flat" cmpd="sng" w="12700">
            <a:solidFill>
              <a:srgbClr val="3A4A8F"/>
            </a:solidFill>
            <a:prstDash val="solid"/>
            <a:round/>
            <a:headEnd len="sm" w="sm" type="none"/>
            <a:tailEnd len="sm" w="sm" type="none"/>
          </a:ln>
        </p:spPr>
      </p:cxnSp>
      <p:sp>
        <p:nvSpPr>
          <p:cNvPr id="187" name="Google Shape;187;p7"/>
          <p:cNvSpPr/>
          <p:nvPr/>
        </p:nvSpPr>
        <p:spPr>
          <a:xfrm>
            <a:off x="8686670" y="4480540"/>
            <a:ext cx="2834700" cy="13716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ADCFC"/>
              </a:buClr>
              <a:buSzPts val="1050"/>
              <a:buFont typeface="Courier New"/>
              <a:buNone/>
            </a:pPr>
            <a:r>
              <a:rPr b="0" i="0" lang="en-US" sz="1050" u="none" cap="none" strike="noStrike">
                <a:solidFill>
                  <a:srgbClr val="CADCFC"/>
                </a:solidFill>
                <a:latin typeface="Courier New"/>
                <a:ea typeface="Courier New"/>
                <a:cs typeface="Courier New"/>
                <a:sym typeface="Courier New"/>
              </a:rPr>
              <a:t>Actual run recorded:</a:t>
            </a:r>
            <a:endParaRPr b="0" i="0" sz="105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CADCFC"/>
              </a:buClr>
              <a:buSzPts val="1050"/>
              <a:buFont typeface="Courier New"/>
              <a:buNone/>
            </a:pPr>
            <a:r>
              <a:rPr b="0" i="0" lang="en-US" sz="1050" u="none" cap="none" strike="noStrike">
                <a:solidFill>
                  <a:srgbClr val="CADCFC"/>
                </a:solidFill>
                <a:latin typeface="Courier New"/>
                <a:ea typeface="Courier New"/>
                <a:cs typeface="Courier New"/>
                <a:sym typeface="Courier New"/>
              </a:rPr>
              <a:t>Running 7 tests using 4 workers</a:t>
            </a:r>
            <a:endParaRPr b="0" i="0" sz="105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CADCFC"/>
              </a:buClr>
              <a:buSzPts val="1050"/>
              <a:buFont typeface="Courier New"/>
              <a:buNone/>
            </a:pPr>
            <a:r>
              <a:rPr b="0" i="0" lang="en-US" sz="1050" u="none" cap="none" strike="noStrike">
                <a:solidFill>
                  <a:srgbClr val="CADCFC"/>
                </a:solidFill>
                <a:latin typeface="Courier New"/>
                <a:ea typeface="Courier New"/>
                <a:cs typeface="Courier New"/>
                <a:sym typeface="Courier New"/>
              </a:rPr>
              <a:t>7 passed (7.9s)</a:t>
            </a:r>
            <a:endParaRPr b="0" i="0" sz="1050" u="none" cap="none" strike="noStrike">
              <a:solidFill>
                <a:schemeClr val="dk1"/>
              </a:solidFill>
              <a:latin typeface="Calibri"/>
              <a:ea typeface="Calibri"/>
              <a:cs typeface="Calibri"/>
              <a:sym typeface="Calibri"/>
            </a:endParaRPr>
          </a:p>
        </p:txBody>
      </p:sp>
      <p:sp>
        <p:nvSpPr>
          <p:cNvPr id="188" name="Google Shape;188;p7"/>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189" name="Google Shape;189;p7"/>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94" name="Shape 194"/>
        <p:cNvGrpSpPr/>
        <p:nvPr/>
      </p:nvGrpSpPr>
      <p:grpSpPr>
        <a:xfrm>
          <a:off x="0" y="0"/>
          <a:ext cx="0" cy="0"/>
          <a:chOff x="0" y="0"/>
          <a:chExt cx="0" cy="0"/>
        </a:xfrm>
      </p:grpSpPr>
      <p:sp>
        <p:nvSpPr>
          <p:cNvPr id="195" name="Google Shape;195;p9"/>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990011"/>
                </a:solidFill>
                <a:latin typeface="Calibri"/>
                <a:ea typeface="Calibri"/>
                <a:cs typeface="Calibri"/>
                <a:sym typeface="Calibri"/>
              </a:rPr>
              <a:t>AI APPLIED</a:t>
            </a:r>
            <a:endParaRPr b="0" i="0" sz="1300" u="none" cap="none" strike="noStrike">
              <a:solidFill>
                <a:schemeClr val="dk1"/>
              </a:solidFill>
              <a:latin typeface="Calibri"/>
              <a:ea typeface="Calibri"/>
              <a:cs typeface="Calibri"/>
              <a:sym typeface="Calibri"/>
            </a:endParaRPr>
          </a:p>
        </p:txBody>
      </p:sp>
      <p:sp>
        <p:nvSpPr>
          <p:cNvPr id="196" name="Google Shape;196;p9"/>
          <p:cNvSpPr/>
          <p:nvPr/>
        </p:nvSpPr>
        <p:spPr>
          <a:xfrm>
            <a:off x="548640" y="65836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Judgment, not hype: two concrete, bounded points</a:t>
            </a:r>
            <a:endParaRPr b="0" i="0" sz="3000" u="none" cap="none" strike="noStrike">
              <a:solidFill>
                <a:schemeClr val="dk1"/>
              </a:solidFill>
              <a:latin typeface="Calibri"/>
              <a:ea typeface="Calibri"/>
              <a:cs typeface="Calibri"/>
              <a:sym typeface="Calibri"/>
            </a:endParaRPr>
          </a:p>
        </p:txBody>
      </p:sp>
      <p:sp>
        <p:nvSpPr>
          <p:cNvPr id="197" name="Google Shape;197;p9"/>
          <p:cNvSpPr/>
          <p:nvPr/>
        </p:nvSpPr>
        <p:spPr>
          <a:xfrm>
            <a:off x="548640" y="1463040"/>
            <a:ext cx="5257800" cy="3246120"/>
          </a:xfrm>
          <a:prstGeom prst="roundRect">
            <a:avLst>
              <a:gd fmla="val 2254"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822960" y="173736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robot_CADCFC.png" id="199" name="Google Shape;199;p9"/>
          <p:cNvPicPr preferRelativeResize="0"/>
          <p:nvPr/>
        </p:nvPicPr>
        <p:blipFill rotWithShape="1">
          <a:blip r:embed="rId3">
            <a:alphaModFix/>
          </a:blip>
          <a:srcRect b="0" l="0" r="0" t="0"/>
          <a:stretch/>
        </p:blipFill>
        <p:spPr>
          <a:xfrm>
            <a:off x="977494" y="1891894"/>
            <a:ext cx="285293" cy="285293"/>
          </a:xfrm>
          <a:prstGeom prst="rect">
            <a:avLst/>
          </a:prstGeom>
          <a:noFill/>
          <a:ln>
            <a:noFill/>
          </a:ln>
        </p:spPr>
      </p:pic>
      <p:sp>
        <p:nvSpPr>
          <p:cNvPr id="200" name="Google Shape;200;p9"/>
          <p:cNvSpPr/>
          <p:nvPr/>
        </p:nvSpPr>
        <p:spPr>
          <a:xfrm>
            <a:off x="1600200" y="1737360"/>
            <a:ext cx="3977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ourier New"/>
              <a:buNone/>
            </a:pPr>
            <a:r>
              <a:rPr b="1" i="0" lang="en-US" sz="1400" u="none" cap="none" strike="noStrike">
                <a:solidFill>
                  <a:srgbClr val="1B2333"/>
                </a:solidFill>
                <a:latin typeface="Courier New"/>
                <a:ea typeface="Courier New"/>
                <a:cs typeface="Courier New"/>
                <a:sym typeface="Courier New"/>
              </a:rPr>
              <a:t>generate-test-data.ts</a:t>
            </a:r>
            <a:endParaRPr b="0" i="0" sz="1400" u="none" cap="none" strike="noStrike">
              <a:solidFill>
                <a:schemeClr val="dk1"/>
              </a:solidFill>
              <a:latin typeface="Calibri"/>
              <a:ea typeface="Calibri"/>
              <a:cs typeface="Calibri"/>
              <a:sym typeface="Calibri"/>
            </a:endParaRPr>
          </a:p>
        </p:txBody>
      </p:sp>
      <p:sp>
        <p:nvSpPr>
          <p:cNvPr id="201" name="Google Shape;201;p9"/>
          <p:cNvSpPr/>
          <p:nvPr/>
        </p:nvSpPr>
        <p:spPr>
          <a:xfrm>
            <a:off x="822960" y="2514600"/>
            <a:ext cx="4709160" cy="2103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A6478"/>
              </a:buClr>
              <a:buSzPts val="1200"/>
              <a:buFont typeface="Calibri"/>
              <a:buNone/>
            </a:pPr>
            <a:r>
              <a:rPr b="0" i="0" lang="en-US" sz="1200" u="none" cap="none" strike="noStrike">
                <a:solidFill>
                  <a:srgbClr val="5A6478"/>
                </a:solidFill>
                <a:latin typeface="Calibri"/>
                <a:ea typeface="Calibri"/>
                <a:cs typeface="Calibri"/>
                <a:sym typeface="Calibri"/>
              </a:rPr>
              <a:t>Calls Gemini to generate realistic checkout data (first name, last name, zip code) and overwrites checkout.data.ts. If the AI fails, it exits(1) without corrupting the existing file.</a:t>
            </a:r>
            <a:endParaRPr b="0" i="0" sz="1200" u="none" cap="none" strike="noStrike">
              <a:solidFill>
                <a:schemeClr val="dk1"/>
              </a:solidFill>
              <a:latin typeface="Calibri"/>
              <a:ea typeface="Calibri"/>
              <a:cs typeface="Calibri"/>
              <a:sym typeface="Calibri"/>
            </a:endParaRPr>
          </a:p>
        </p:txBody>
      </p:sp>
      <p:sp>
        <p:nvSpPr>
          <p:cNvPr id="202" name="Google Shape;202;p9"/>
          <p:cNvSpPr/>
          <p:nvPr/>
        </p:nvSpPr>
        <p:spPr>
          <a:xfrm>
            <a:off x="6080760" y="1463040"/>
            <a:ext cx="5257800" cy="3246120"/>
          </a:xfrm>
          <a:prstGeom prst="roundRect">
            <a:avLst>
              <a:gd fmla="val 2254"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6355080" y="173736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artbar_CADCFC.png" id="204" name="Google Shape;204;p9"/>
          <p:cNvPicPr preferRelativeResize="0"/>
          <p:nvPr/>
        </p:nvPicPr>
        <p:blipFill rotWithShape="1">
          <a:blip r:embed="rId4">
            <a:alphaModFix/>
          </a:blip>
          <a:srcRect b="0" l="0" r="0" t="0"/>
          <a:stretch/>
        </p:blipFill>
        <p:spPr>
          <a:xfrm>
            <a:off x="6509614" y="1891894"/>
            <a:ext cx="285293" cy="285293"/>
          </a:xfrm>
          <a:prstGeom prst="rect">
            <a:avLst/>
          </a:prstGeom>
          <a:noFill/>
          <a:ln>
            <a:noFill/>
          </a:ln>
        </p:spPr>
      </p:pic>
      <p:sp>
        <p:nvSpPr>
          <p:cNvPr id="205" name="Google Shape;205;p9"/>
          <p:cNvSpPr/>
          <p:nvPr/>
        </p:nvSpPr>
        <p:spPr>
          <a:xfrm>
            <a:off x="7132320" y="1737360"/>
            <a:ext cx="3977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ourier New"/>
              <a:buNone/>
            </a:pPr>
            <a:r>
              <a:rPr b="1" i="0" lang="en-US" sz="1400" u="none" cap="none" strike="noStrike">
                <a:solidFill>
                  <a:srgbClr val="1B2333"/>
                </a:solidFill>
                <a:latin typeface="Courier New"/>
                <a:ea typeface="Courier New"/>
                <a:cs typeface="Courier New"/>
                <a:sym typeface="Courier New"/>
              </a:rPr>
              <a:t>analyze-report.ts</a:t>
            </a:r>
            <a:endParaRPr b="0" i="0" sz="1400" u="none" cap="none" strike="noStrike">
              <a:solidFill>
                <a:schemeClr val="dk1"/>
              </a:solidFill>
              <a:latin typeface="Calibri"/>
              <a:ea typeface="Calibri"/>
              <a:cs typeface="Calibri"/>
              <a:sym typeface="Calibri"/>
            </a:endParaRPr>
          </a:p>
        </p:txBody>
      </p:sp>
      <p:sp>
        <p:nvSpPr>
          <p:cNvPr id="206" name="Google Shape;206;p9"/>
          <p:cNvSpPr/>
          <p:nvPr/>
        </p:nvSpPr>
        <p:spPr>
          <a:xfrm>
            <a:off x="6355080" y="2514600"/>
            <a:ext cx="4709160" cy="2103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A6478"/>
              </a:buClr>
              <a:buSzPts val="1200"/>
              <a:buFont typeface="Calibri"/>
              <a:buNone/>
            </a:pPr>
            <a:r>
              <a:rPr b="0" i="0" lang="en-US" sz="1200" u="none" cap="none" strike="noStrike">
                <a:solidFill>
                  <a:srgbClr val="5A6478"/>
                </a:solidFill>
                <a:latin typeface="Calibri"/>
                <a:ea typeface="Calibri"/>
                <a:cs typeface="Calibri"/>
                <a:sym typeface="Calibri"/>
              </a:rPr>
              <a:t>Reads results.json (Playwright's json reporter), computes metrics, and asks Gemini for an executive summary in plain language (≤120 words) for a non-technical audience.</a:t>
            </a:r>
            <a:endParaRPr b="0" i="0" sz="1200" u="none" cap="none" strike="noStrike">
              <a:solidFill>
                <a:schemeClr val="dk1"/>
              </a:solidFill>
              <a:latin typeface="Calibri"/>
              <a:ea typeface="Calibri"/>
              <a:cs typeface="Calibri"/>
              <a:sym typeface="Calibri"/>
            </a:endParaRPr>
          </a:p>
        </p:txBody>
      </p:sp>
      <p:sp>
        <p:nvSpPr>
          <p:cNvPr id="207" name="Google Shape;207;p9"/>
          <p:cNvSpPr/>
          <p:nvPr/>
        </p:nvSpPr>
        <p:spPr>
          <a:xfrm>
            <a:off x="548640" y="4892040"/>
            <a:ext cx="11064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AI doesn't replace test logic or decide what to test. </a:t>
            </a:r>
            <a:r>
              <a:rPr b="0" i="0" lang="en-US" sz="1300" u="none" cap="none" strike="noStrike">
                <a:solidFill>
                  <a:srgbClr val="5A6478"/>
                </a:solidFill>
                <a:latin typeface="Calibri"/>
                <a:ea typeface="Calibri"/>
                <a:cs typeface="Calibri"/>
                <a:sym typeface="Calibri"/>
              </a:rPr>
              <a:t>It's used as a support tool at two bounded points in the pipeline.</a:t>
            </a:r>
            <a:endParaRPr b="0" i="0" sz="1300" u="none" cap="none" strike="noStrike">
              <a:solidFill>
                <a:schemeClr val="dk1"/>
              </a:solidFill>
              <a:latin typeface="Calibri"/>
              <a:ea typeface="Calibri"/>
              <a:cs typeface="Calibri"/>
              <a:sym typeface="Calibri"/>
            </a:endParaRPr>
          </a:p>
        </p:txBody>
      </p:sp>
      <p:sp>
        <p:nvSpPr>
          <p:cNvPr id="208" name="Google Shape;208;p9"/>
          <p:cNvSpPr/>
          <p:nvPr/>
        </p:nvSpPr>
        <p:spPr>
          <a:xfrm>
            <a:off x="548640" y="5486400"/>
            <a:ext cx="11064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1" lang="en-US" sz="1150" u="none" cap="none" strike="noStrike">
                <a:solidFill>
                  <a:srgbClr val="5A6478"/>
                </a:solidFill>
                <a:latin typeface="Calibri"/>
                <a:ea typeface="Calibri"/>
                <a:cs typeface="Calibri"/>
                <a:sym typeface="Calibri"/>
              </a:rPr>
              <a:t>Note on the provider: the final implementation uses Google Gemini (gemini-flash-latest, direct HTTP) instead of Anthropic — a pragmatic decision based on the free tier with no credit card required, with no impact on the architecture.</a:t>
            </a:r>
            <a:endParaRPr b="0" i="0" sz="1150" u="none" cap="none" strike="noStrike">
              <a:solidFill>
                <a:schemeClr val="dk1"/>
              </a:solidFill>
              <a:latin typeface="Calibri"/>
              <a:ea typeface="Calibri"/>
              <a:cs typeface="Calibri"/>
              <a:sym typeface="Calibri"/>
            </a:endParaRPr>
          </a:p>
        </p:txBody>
      </p:sp>
      <p:sp>
        <p:nvSpPr>
          <p:cNvPr id="209" name="Google Shape;209;p9"/>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210" name="Google Shape;210;p9"/>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15" name="Shape 215"/>
        <p:cNvGrpSpPr/>
        <p:nvPr/>
      </p:nvGrpSpPr>
      <p:grpSpPr>
        <a:xfrm>
          <a:off x="0" y="0"/>
          <a:ext cx="0" cy="0"/>
          <a:chOff x="0" y="0"/>
          <a:chExt cx="0" cy="0"/>
        </a:xfrm>
      </p:grpSpPr>
      <p:sp>
        <p:nvSpPr>
          <p:cNvPr id="216" name="Google Shape;216;p8"/>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990011"/>
                </a:solidFill>
                <a:latin typeface="Calibri"/>
                <a:ea typeface="Calibri"/>
                <a:cs typeface="Calibri"/>
                <a:sym typeface="Calibri"/>
              </a:rPr>
              <a:t>EXTRA VALUE</a:t>
            </a:r>
            <a:endParaRPr b="0" i="0" sz="1300" u="none" cap="none" strike="noStrike">
              <a:solidFill>
                <a:schemeClr val="dk1"/>
              </a:solidFill>
              <a:latin typeface="Calibri"/>
              <a:ea typeface="Calibri"/>
              <a:cs typeface="Calibri"/>
              <a:sym typeface="Calibri"/>
            </a:endParaRPr>
          </a:p>
        </p:txBody>
      </p:sp>
      <p:sp>
        <p:nvSpPr>
          <p:cNvPr id="217" name="Google Shape;217;p8"/>
          <p:cNvSpPr/>
          <p:nvPr/>
        </p:nvSpPr>
        <p:spPr>
          <a:xfrm>
            <a:off x="548640" y="65836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Beyond the minimum: API, network and visual regression</a:t>
            </a:r>
            <a:endParaRPr b="0" i="0" sz="3000" u="none" cap="none" strike="noStrike">
              <a:solidFill>
                <a:schemeClr val="dk1"/>
              </a:solidFill>
              <a:latin typeface="Calibri"/>
              <a:ea typeface="Calibri"/>
              <a:cs typeface="Calibri"/>
              <a:sym typeface="Calibri"/>
            </a:endParaRPr>
          </a:p>
        </p:txBody>
      </p:sp>
      <p:sp>
        <p:nvSpPr>
          <p:cNvPr id="218" name="Google Shape;218;p8"/>
          <p:cNvSpPr/>
          <p:nvPr/>
        </p:nvSpPr>
        <p:spPr>
          <a:xfrm>
            <a:off x="548640" y="1325880"/>
            <a:ext cx="10972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4400"/>
              <a:buFont typeface="Cambria"/>
              <a:buNone/>
            </a:pPr>
            <a:r>
              <a:rPr b="1" i="0" lang="en-US" sz="4400" u="none" cap="none" strike="noStrike">
                <a:solidFill>
                  <a:srgbClr val="1E2761"/>
                </a:solidFill>
                <a:latin typeface="Cambria"/>
                <a:ea typeface="Cambria"/>
                <a:cs typeface="Cambria"/>
                <a:sym typeface="Cambria"/>
              </a:rPr>
              <a:t>16</a:t>
            </a:r>
            <a:r>
              <a:rPr b="0" i="0" lang="en-US" sz="1500" u="none" cap="none" strike="noStrike">
                <a:solidFill>
                  <a:srgbClr val="5A6478"/>
                </a:solidFill>
                <a:latin typeface="Cambria"/>
                <a:ea typeface="Cambria"/>
                <a:cs typeface="Cambria"/>
                <a:sym typeface="Cambria"/>
              </a:rPr>
              <a:t>  total tests   </a:t>
            </a:r>
            <a:r>
              <a:rPr b="1" i="0" lang="en-US" sz="4400" u="none" cap="none" strike="noStrike">
                <a:solidFill>
                  <a:srgbClr val="2C5F2D"/>
                </a:solidFill>
                <a:latin typeface="Cambria"/>
                <a:ea typeface="Cambria"/>
                <a:cs typeface="Cambria"/>
                <a:sym typeface="Cambria"/>
              </a:rPr>
              <a:t>12</a:t>
            </a:r>
            <a:r>
              <a:rPr b="0" i="0" lang="en-US" sz="1500" u="none" cap="none" strike="noStrike">
                <a:solidFill>
                  <a:srgbClr val="5A6478"/>
                </a:solidFill>
                <a:latin typeface="Cambria"/>
                <a:ea typeface="Cambria"/>
                <a:cs typeface="Cambria"/>
                <a:sym typeface="Cambria"/>
              </a:rPr>
              <a:t>  run in the CI gate</a:t>
            </a:r>
            <a:endParaRPr b="0" i="0" sz="4400" u="none" cap="none" strike="noStrike">
              <a:solidFill>
                <a:schemeClr val="dk1"/>
              </a:solidFill>
              <a:latin typeface="Calibri"/>
              <a:ea typeface="Calibri"/>
              <a:cs typeface="Calibri"/>
              <a:sym typeface="Calibri"/>
            </a:endParaRPr>
          </a:p>
        </p:txBody>
      </p:sp>
      <p:sp>
        <p:nvSpPr>
          <p:cNvPr id="219" name="Google Shape;219;p8"/>
          <p:cNvSpPr/>
          <p:nvPr/>
        </p:nvSpPr>
        <p:spPr>
          <a:xfrm>
            <a:off x="548640" y="2331720"/>
            <a:ext cx="5257800" cy="3520440"/>
          </a:xfrm>
          <a:prstGeom prst="roundRect">
            <a:avLst>
              <a:gd fmla="val 2078"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822960" y="260604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network_CADCFC.png" id="221" name="Google Shape;221;p8"/>
          <p:cNvPicPr preferRelativeResize="0"/>
          <p:nvPr/>
        </p:nvPicPr>
        <p:blipFill rotWithShape="1">
          <a:blip r:embed="rId3">
            <a:alphaModFix/>
          </a:blip>
          <a:srcRect b="0" l="0" r="0" t="0"/>
          <a:stretch/>
        </p:blipFill>
        <p:spPr>
          <a:xfrm>
            <a:off x="977494" y="2760574"/>
            <a:ext cx="285293" cy="285293"/>
          </a:xfrm>
          <a:prstGeom prst="rect">
            <a:avLst/>
          </a:prstGeom>
          <a:noFill/>
          <a:ln>
            <a:noFill/>
          </a:ln>
        </p:spPr>
      </p:pic>
      <p:sp>
        <p:nvSpPr>
          <p:cNvPr id="222" name="Google Shape;222;p8"/>
          <p:cNvSpPr/>
          <p:nvPr/>
        </p:nvSpPr>
        <p:spPr>
          <a:xfrm>
            <a:off x="1600200" y="2606040"/>
            <a:ext cx="3977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50"/>
              <a:buFont typeface="Cambria"/>
              <a:buNone/>
            </a:pPr>
            <a:r>
              <a:rPr b="1" i="0" lang="en-US" sz="1450" u="none" cap="none" strike="noStrike">
                <a:solidFill>
                  <a:srgbClr val="1B2333"/>
                </a:solidFill>
                <a:latin typeface="Cambria"/>
                <a:ea typeface="Cambria"/>
                <a:cs typeface="Cambria"/>
                <a:sym typeface="Cambria"/>
              </a:rPr>
              <a:t>API smoke + network resilience (5 tests)</a:t>
            </a:r>
            <a:endParaRPr b="0" i="0" sz="1450" u="none" cap="none" strike="noStrike">
              <a:solidFill>
                <a:schemeClr val="dk1"/>
              </a:solidFill>
              <a:latin typeface="Calibri"/>
              <a:ea typeface="Calibri"/>
              <a:cs typeface="Calibri"/>
              <a:sym typeface="Calibri"/>
            </a:endParaRPr>
          </a:p>
        </p:txBody>
      </p:sp>
      <p:sp>
        <p:nvSpPr>
          <p:cNvPr id="223" name="Google Shape;223;p8"/>
          <p:cNvSpPr/>
          <p:nvPr/>
        </p:nvSpPr>
        <p:spPr>
          <a:xfrm>
            <a:off x="822960" y="3337560"/>
            <a:ext cx="4709160" cy="23774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SauceDemo has no auth endpoint of its own — login is validated client-side. Instead of mocking a nonexistent endpoint, two genuine network points were chosen:</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800"/>
              </a:spcBef>
              <a:spcAft>
                <a:spcPts val="0"/>
              </a:spcAft>
              <a:buClr>
                <a:srgbClr val="5A6478"/>
              </a:buClr>
              <a:buSzPts val="1150"/>
              <a:buFont typeface="Calibri"/>
              <a:buNone/>
            </a:pPr>
            <a:r>
              <a:rPr b="1" i="0" lang="en-US" sz="1150" u="none" cap="none" strike="noStrike">
                <a:solidFill>
                  <a:srgbClr val="5A6478"/>
                </a:solidFill>
                <a:latin typeface="Calibri"/>
                <a:ea typeface="Calibri"/>
                <a:cs typeface="Calibri"/>
                <a:sym typeface="Calibri"/>
              </a:rPr>
              <a:t>api-smoke.spec.ts: </a:t>
            </a:r>
            <a:r>
              <a:rPr b="0" i="0" lang="en-US" sz="1150" u="none" cap="none" strike="noStrike">
                <a:solidFill>
                  <a:srgbClr val="5A6478"/>
                </a:solidFill>
                <a:latin typeface="Calibri"/>
                <a:ea typeface="Calibri"/>
                <a:cs typeface="Calibri"/>
                <a:sym typeface="Calibri"/>
              </a:rPr>
              <a:t>status 200, Content-Type, response time, critical assets</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600"/>
              </a:spcBef>
              <a:spcAft>
                <a:spcPts val="0"/>
              </a:spcAft>
              <a:buClr>
                <a:srgbClr val="5A6478"/>
              </a:buClr>
              <a:buSzPts val="1150"/>
              <a:buFont typeface="Calibri"/>
              <a:buNone/>
            </a:pPr>
            <a:r>
              <a:rPr b="1" i="0" lang="en-US" sz="1150" u="none" cap="none" strike="noStrike">
                <a:solidFill>
                  <a:srgbClr val="5A6478"/>
                </a:solidFill>
                <a:latin typeface="Calibri"/>
                <a:ea typeface="Calibri"/>
                <a:cs typeface="Calibri"/>
                <a:sym typeface="Calibri"/>
              </a:rPr>
              <a:t>network-resilience.spec.ts: </a:t>
            </a:r>
            <a:r>
              <a:rPr b="0" i="0" lang="en-US" sz="1150" u="none" cap="none" strike="noStrike">
                <a:solidFill>
                  <a:srgbClr val="5A6478"/>
                </a:solidFill>
                <a:latin typeface="Calibri"/>
                <a:ea typeface="Calibri"/>
                <a:cs typeface="Calibri"/>
                <a:sym typeface="Calibri"/>
              </a:rPr>
              <a:t>aborts images/icons and verifies the happy path still works</a:t>
            </a:r>
            <a:endParaRPr b="0" i="0" sz="1150" u="none" cap="none" strike="noStrike">
              <a:solidFill>
                <a:schemeClr val="dk1"/>
              </a:solidFill>
              <a:latin typeface="Calibri"/>
              <a:ea typeface="Calibri"/>
              <a:cs typeface="Calibri"/>
              <a:sym typeface="Calibri"/>
            </a:endParaRPr>
          </a:p>
        </p:txBody>
      </p:sp>
      <p:sp>
        <p:nvSpPr>
          <p:cNvPr id="224" name="Google Shape;224;p8"/>
          <p:cNvSpPr/>
          <p:nvPr/>
        </p:nvSpPr>
        <p:spPr>
          <a:xfrm>
            <a:off x="6080760" y="2331720"/>
            <a:ext cx="5257800" cy="3520440"/>
          </a:xfrm>
          <a:prstGeom prst="roundRect">
            <a:avLst>
              <a:gd fmla="val 2078"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6355080" y="260604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amera_CADCFC.png" id="226" name="Google Shape;226;p8"/>
          <p:cNvPicPr preferRelativeResize="0"/>
          <p:nvPr/>
        </p:nvPicPr>
        <p:blipFill rotWithShape="1">
          <a:blip r:embed="rId4">
            <a:alphaModFix/>
          </a:blip>
          <a:srcRect b="0" l="0" r="0" t="0"/>
          <a:stretch/>
        </p:blipFill>
        <p:spPr>
          <a:xfrm>
            <a:off x="6509614" y="2760574"/>
            <a:ext cx="285293" cy="285293"/>
          </a:xfrm>
          <a:prstGeom prst="rect">
            <a:avLst/>
          </a:prstGeom>
          <a:noFill/>
          <a:ln>
            <a:noFill/>
          </a:ln>
        </p:spPr>
      </p:pic>
      <p:sp>
        <p:nvSpPr>
          <p:cNvPr id="227" name="Google Shape;227;p8"/>
          <p:cNvSpPr/>
          <p:nvPr/>
        </p:nvSpPr>
        <p:spPr>
          <a:xfrm>
            <a:off x="7132320" y="2606040"/>
            <a:ext cx="3977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50"/>
              <a:buFont typeface="Cambria"/>
              <a:buNone/>
            </a:pPr>
            <a:r>
              <a:rPr b="1" i="0" lang="en-US" sz="1450" u="none" cap="none" strike="noStrike">
                <a:solidFill>
                  <a:srgbClr val="1B2333"/>
                </a:solidFill>
                <a:latin typeface="Cambria"/>
                <a:ea typeface="Cambria"/>
                <a:cs typeface="Cambria"/>
                <a:sym typeface="Cambria"/>
              </a:rPr>
              <a:t>Visual regression testing (1 test)</a:t>
            </a:r>
            <a:endParaRPr b="0" i="0" sz="1450" u="none" cap="none" strike="noStrike">
              <a:solidFill>
                <a:schemeClr val="dk1"/>
              </a:solidFill>
              <a:latin typeface="Calibri"/>
              <a:ea typeface="Calibri"/>
              <a:cs typeface="Calibri"/>
              <a:sym typeface="Calibri"/>
            </a:endParaRPr>
          </a:p>
        </p:txBody>
      </p:sp>
      <p:sp>
        <p:nvSpPr>
          <p:cNvPr id="228" name="Google Shape;228;p8"/>
          <p:cNvSpPr/>
          <p:nvPr/>
        </p:nvSpPr>
        <p:spPr>
          <a:xfrm>
            <a:off x="6355080" y="3337560"/>
            <a:ext cx="4709160" cy="23774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toHaveScreenshot() on standard_user, empty cart, animations disabled, maxDiffPixelRatio 0.02.</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800"/>
              </a:spcBef>
              <a:spcAft>
                <a:spcPts val="0"/>
              </a:spcAft>
              <a:buClr>
                <a:srgbClr val="990011"/>
              </a:buClr>
              <a:buSzPts val="1150"/>
              <a:buFont typeface="Calibri"/>
              <a:buNone/>
            </a:pPr>
            <a:r>
              <a:rPr b="1" i="0" lang="en-US" sz="1150" u="none" cap="none" strike="noStrike">
                <a:solidFill>
                  <a:srgbClr val="990011"/>
                </a:solidFill>
                <a:latin typeface="Calibri"/>
                <a:ea typeface="Calibri"/>
                <a:cs typeface="Calibri"/>
                <a:sym typeface="Calibri"/>
              </a:rPr>
              <a:t>Known limitation: </a:t>
            </a:r>
            <a:r>
              <a:rPr b="0" i="0" lang="en-US" sz="1150" u="none" cap="none" strike="noStrike">
                <a:solidFill>
                  <a:srgbClr val="5A6478"/>
                </a:solidFill>
                <a:latin typeface="Calibri"/>
                <a:ea typeface="Calibri"/>
                <a:cs typeface="Calibri"/>
                <a:sym typeface="Calibri"/>
              </a:rPr>
              <a:t>the baseline was generated on Windows (-win32 suffix) and would fail on a Linux runner without its own baseline — hence it's excluded from the CI gate.</a:t>
            </a:r>
            <a:endParaRPr b="0" i="0" sz="1150" u="none" cap="none" strike="noStrike">
              <a:solidFill>
                <a:schemeClr val="dk1"/>
              </a:solidFill>
              <a:latin typeface="Calibri"/>
              <a:ea typeface="Calibri"/>
              <a:cs typeface="Calibri"/>
              <a:sym typeface="Calibri"/>
            </a:endParaRPr>
          </a:p>
        </p:txBody>
      </p:sp>
      <p:sp>
        <p:nvSpPr>
          <p:cNvPr id="229" name="Google Shape;229;p8"/>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230" name="Google Shape;230;p8"/>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35" name="Shape 235"/>
        <p:cNvGrpSpPr/>
        <p:nvPr/>
      </p:nvGrpSpPr>
      <p:grpSpPr>
        <a:xfrm>
          <a:off x="0" y="0"/>
          <a:ext cx="0" cy="0"/>
          <a:chOff x="0" y="0"/>
          <a:chExt cx="0" cy="0"/>
        </a:xfrm>
      </p:grpSpPr>
      <p:sp>
        <p:nvSpPr>
          <p:cNvPr id="236" name="Google Shape;236;p10"/>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990011"/>
                </a:solidFill>
                <a:latin typeface="Calibri"/>
                <a:ea typeface="Calibri"/>
                <a:cs typeface="Calibri"/>
                <a:sym typeface="Calibri"/>
              </a:rPr>
              <a:t>REPORTING &amp; CI/CD</a:t>
            </a:r>
            <a:endParaRPr b="0" i="0" sz="1300" u="none" cap="none" strike="noStrike">
              <a:solidFill>
                <a:schemeClr val="dk1"/>
              </a:solidFill>
              <a:latin typeface="Calibri"/>
              <a:ea typeface="Calibri"/>
              <a:cs typeface="Calibri"/>
              <a:sym typeface="Calibri"/>
            </a:endParaRPr>
          </a:p>
        </p:txBody>
      </p:sp>
      <p:sp>
        <p:nvSpPr>
          <p:cNvPr id="237" name="Google Shape;237;p10"/>
          <p:cNvSpPr/>
          <p:nvPr/>
        </p:nvSpPr>
        <p:spPr>
          <a:xfrm>
            <a:off x="548640" y="65836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Allure Report + GitHub Actions pipeline</a:t>
            </a:r>
            <a:endParaRPr b="0" i="0" sz="3000" u="none" cap="none" strike="noStrike">
              <a:solidFill>
                <a:schemeClr val="dk1"/>
              </a:solidFill>
              <a:latin typeface="Calibri"/>
              <a:ea typeface="Calibri"/>
              <a:cs typeface="Calibri"/>
              <a:sym typeface="Calibri"/>
            </a:endParaRPr>
          </a:p>
        </p:txBody>
      </p:sp>
      <p:sp>
        <p:nvSpPr>
          <p:cNvPr id="238" name="Google Shape;238;p10"/>
          <p:cNvSpPr/>
          <p:nvPr/>
        </p:nvSpPr>
        <p:spPr>
          <a:xfrm>
            <a:off x="548640" y="1417320"/>
            <a:ext cx="2514600" cy="914400"/>
          </a:xfrm>
          <a:prstGeom prst="roundRect">
            <a:avLst>
              <a:gd fmla="val 8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685800" y="1417320"/>
            <a:ext cx="22402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Checkout + npm ci</a:t>
            </a:r>
            <a:endParaRPr b="0" i="0" sz="1150" u="none" cap="none" strike="noStrike">
              <a:solidFill>
                <a:schemeClr val="dk1"/>
              </a:solidFill>
              <a:latin typeface="Calibri"/>
              <a:ea typeface="Calibri"/>
              <a:cs typeface="Calibri"/>
              <a:sym typeface="Calibri"/>
            </a:endParaRPr>
          </a:p>
        </p:txBody>
      </p:sp>
      <p:sp>
        <p:nvSpPr>
          <p:cNvPr id="240" name="Google Shape;240;p10"/>
          <p:cNvSpPr/>
          <p:nvPr/>
        </p:nvSpPr>
        <p:spPr>
          <a:xfrm>
            <a:off x="3063240" y="1417320"/>
            <a:ext cx="320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8"/>
              </a:buClr>
              <a:buSzPts val="1800"/>
              <a:buFont typeface="Arial"/>
              <a:buNone/>
            </a:pPr>
            <a:r>
              <a:rPr b="0" i="0" lang="en-US" sz="1800" u="none" cap="none" strike="noStrike">
                <a:solidFill>
                  <a:srgbClr val="5A6478"/>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241" name="Google Shape;241;p10"/>
          <p:cNvSpPr/>
          <p:nvPr/>
        </p:nvSpPr>
        <p:spPr>
          <a:xfrm>
            <a:off x="3383280" y="1417320"/>
            <a:ext cx="2514600" cy="914400"/>
          </a:xfrm>
          <a:prstGeom prst="roundRect">
            <a:avLst>
              <a:gd fmla="val 8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
          <p:cNvSpPr/>
          <p:nvPr/>
        </p:nvSpPr>
        <p:spPr>
          <a:xfrm>
            <a:off x="3520440" y="1417320"/>
            <a:ext cx="22402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Install Chromium</a:t>
            </a:r>
            <a:endParaRPr b="0" i="0" sz="1150" u="none" cap="none" strike="noStrike">
              <a:solidFill>
                <a:schemeClr val="dk1"/>
              </a:solidFill>
              <a:latin typeface="Calibri"/>
              <a:ea typeface="Calibri"/>
              <a:cs typeface="Calibri"/>
              <a:sym typeface="Calibri"/>
            </a:endParaRPr>
          </a:p>
        </p:txBody>
      </p:sp>
      <p:sp>
        <p:nvSpPr>
          <p:cNvPr id="243" name="Google Shape;243;p10"/>
          <p:cNvSpPr/>
          <p:nvPr/>
        </p:nvSpPr>
        <p:spPr>
          <a:xfrm>
            <a:off x="5897880" y="1417320"/>
            <a:ext cx="320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8"/>
              </a:buClr>
              <a:buSzPts val="1800"/>
              <a:buFont typeface="Arial"/>
              <a:buNone/>
            </a:pPr>
            <a:r>
              <a:rPr b="0" i="0" lang="en-US" sz="1800" u="none" cap="none" strike="noStrike">
                <a:solidFill>
                  <a:srgbClr val="5A6478"/>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244" name="Google Shape;244;p10"/>
          <p:cNvSpPr/>
          <p:nvPr/>
        </p:nvSpPr>
        <p:spPr>
          <a:xfrm>
            <a:off x="6217920" y="1417320"/>
            <a:ext cx="2514600" cy="914400"/>
          </a:xfrm>
          <a:prstGeom prst="roundRect">
            <a:avLst>
              <a:gd fmla="val 8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p:nvPr/>
        </p:nvSpPr>
        <p:spPr>
          <a:xfrm>
            <a:off x="6355080" y="1417320"/>
            <a:ext cx="22402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npm run test:ci</a:t>
            </a:r>
            <a:endParaRPr b="0" i="0" sz="1150" u="none" cap="none" strike="noStrike">
              <a:solidFill>
                <a:schemeClr val="dk1"/>
              </a:solidFill>
              <a:latin typeface="Calibri"/>
              <a:ea typeface="Calibri"/>
              <a:cs typeface="Calibri"/>
              <a:sym typeface="Calibri"/>
            </a:endParaRPr>
          </a:p>
        </p:txBody>
      </p:sp>
      <p:sp>
        <p:nvSpPr>
          <p:cNvPr id="246" name="Google Shape;246;p10"/>
          <p:cNvSpPr/>
          <p:nvPr/>
        </p:nvSpPr>
        <p:spPr>
          <a:xfrm>
            <a:off x="8732520" y="1417320"/>
            <a:ext cx="320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8"/>
              </a:buClr>
              <a:buSzPts val="1800"/>
              <a:buFont typeface="Arial"/>
              <a:buNone/>
            </a:pPr>
            <a:r>
              <a:rPr b="0" i="0" lang="en-US" sz="1800" u="none" cap="none" strike="noStrike">
                <a:solidFill>
                  <a:srgbClr val="5A6478"/>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247" name="Google Shape;247;p10"/>
          <p:cNvSpPr/>
          <p:nvPr/>
        </p:nvSpPr>
        <p:spPr>
          <a:xfrm>
            <a:off x="9052560" y="1417320"/>
            <a:ext cx="2514600" cy="914400"/>
          </a:xfrm>
          <a:prstGeom prst="roundRect">
            <a:avLst>
              <a:gd fmla="val 8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p:nvPr/>
        </p:nvSpPr>
        <p:spPr>
          <a:xfrm>
            <a:off x="9189720" y="1417320"/>
            <a:ext cx="22402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Upload reports</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(Allure + HTML)</a:t>
            </a:r>
            <a:endParaRPr b="0" i="0" sz="1150" u="none" cap="none" strike="noStrike">
              <a:solidFill>
                <a:schemeClr val="dk1"/>
              </a:solidFill>
              <a:latin typeface="Calibri"/>
              <a:ea typeface="Calibri"/>
              <a:cs typeface="Calibri"/>
              <a:sym typeface="Calibri"/>
            </a:endParaRPr>
          </a:p>
        </p:txBody>
      </p:sp>
      <p:sp>
        <p:nvSpPr>
          <p:cNvPr id="249" name="Google Shape;249;p10"/>
          <p:cNvSpPr/>
          <p:nvPr/>
        </p:nvSpPr>
        <p:spPr>
          <a:xfrm>
            <a:off x="548640" y="24231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1" lang="en-US" sz="1150" u="none" cap="none" strike="noStrike">
                <a:solidFill>
                  <a:srgbClr val="5A6478"/>
                </a:solidFill>
                <a:latin typeface="Calibri"/>
                <a:ea typeface="Calibri"/>
                <a:cs typeface="Calibri"/>
                <a:sym typeface="Calibri"/>
              </a:rPr>
              <a:t>ubuntu-latest · Node 20 · on every push / pull request to main</a:t>
            </a:r>
            <a:endParaRPr b="0" i="0" sz="1150" u="none" cap="none" strike="noStrike">
              <a:solidFill>
                <a:schemeClr val="dk1"/>
              </a:solidFill>
              <a:latin typeface="Calibri"/>
              <a:ea typeface="Calibri"/>
              <a:cs typeface="Calibri"/>
              <a:sym typeface="Calibri"/>
            </a:endParaRPr>
          </a:p>
        </p:txBody>
      </p:sp>
      <p:sp>
        <p:nvSpPr>
          <p:cNvPr id="250" name="Google Shape;250;p10"/>
          <p:cNvSpPr/>
          <p:nvPr/>
        </p:nvSpPr>
        <p:spPr>
          <a:xfrm>
            <a:off x="548640" y="3063240"/>
            <a:ext cx="3520440" cy="1371600"/>
          </a:xfrm>
          <a:prstGeom prst="roundRect">
            <a:avLst>
              <a:gd fmla="val 4667" name="adj"/>
            </a:avLst>
          </a:prstGeom>
          <a:solidFill>
            <a:srgbClr val="FFFFFF"/>
          </a:solidFill>
          <a:ln cap="flat" cmpd="sng" w="12700">
            <a:solidFill>
              <a:srgbClr val="E1E7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p:nvPr/>
        </p:nvSpPr>
        <p:spPr>
          <a:xfrm>
            <a:off x="777240" y="3383280"/>
            <a:ext cx="731520" cy="73152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FFFFFF.png" id="252" name="Google Shape;252;p10"/>
          <p:cNvPicPr preferRelativeResize="0"/>
          <p:nvPr/>
        </p:nvPicPr>
        <p:blipFill rotWithShape="1">
          <a:blip r:embed="rId3">
            <a:alphaModFix/>
          </a:blip>
          <a:srcRect b="0" l="0" r="0" t="0"/>
          <a:stretch/>
        </p:blipFill>
        <p:spPr>
          <a:xfrm>
            <a:off x="967435" y="3573475"/>
            <a:ext cx="351130" cy="351130"/>
          </a:xfrm>
          <a:prstGeom prst="rect">
            <a:avLst/>
          </a:prstGeom>
          <a:noFill/>
          <a:ln>
            <a:noFill/>
          </a:ln>
        </p:spPr>
      </p:pic>
      <p:sp>
        <p:nvSpPr>
          <p:cNvPr id="253" name="Google Shape;253;p10"/>
          <p:cNvSpPr/>
          <p:nvPr/>
        </p:nvSpPr>
        <p:spPr>
          <a:xfrm>
            <a:off x="1645920" y="3291840"/>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mbria"/>
              <a:buNone/>
            </a:pPr>
            <a:r>
              <a:rPr b="1" i="0" lang="en-US" sz="1350" u="none" cap="none" strike="noStrike">
                <a:solidFill>
                  <a:srgbClr val="1B2333"/>
                </a:solidFill>
                <a:latin typeface="Cambria"/>
                <a:ea typeface="Cambria"/>
                <a:cs typeface="Cambria"/>
                <a:sym typeface="Cambria"/>
              </a:rPr>
              <a:t>passed</a:t>
            </a:r>
            <a:endParaRPr b="0" i="0" sz="1350" u="none" cap="none" strike="noStrike">
              <a:solidFill>
                <a:schemeClr val="dk1"/>
              </a:solidFill>
              <a:latin typeface="Calibri"/>
              <a:ea typeface="Calibri"/>
              <a:cs typeface="Calibri"/>
              <a:sym typeface="Calibri"/>
            </a:endParaRPr>
          </a:p>
        </p:txBody>
      </p:sp>
      <p:sp>
        <p:nvSpPr>
          <p:cNvPr id="254" name="Google Shape;254;p10"/>
          <p:cNvSpPr/>
          <p:nvPr/>
        </p:nvSpPr>
        <p:spPr>
          <a:xfrm>
            <a:off x="1645920" y="3685032"/>
            <a:ext cx="22402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50"/>
              <a:buFont typeface="Calibri"/>
              <a:buNone/>
            </a:pPr>
            <a:r>
              <a:rPr b="0" i="0" lang="en-US" sz="1050" u="none" cap="none" strike="noStrike">
                <a:solidFill>
                  <a:srgbClr val="5A6478"/>
                </a:solidFill>
                <a:latin typeface="Calibri"/>
                <a:ea typeface="Calibri"/>
                <a:cs typeface="Calibri"/>
                <a:sym typeface="Calibri"/>
              </a:rPr>
              <a:t>Successful base case</a:t>
            </a:r>
            <a:endParaRPr b="0" i="0" sz="1050" u="none" cap="none" strike="noStrike">
              <a:solidFill>
                <a:schemeClr val="dk1"/>
              </a:solidFill>
              <a:latin typeface="Calibri"/>
              <a:ea typeface="Calibri"/>
              <a:cs typeface="Calibri"/>
              <a:sym typeface="Calibri"/>
            </a:endParaRPr>
          </a:p>
        </p:txBody>
      </p:sp>
      <p:sp>
        <p:nvSpPr>
          <p:cNvPr id="255" name="Google Shape;255;p10"/>
          <p:cNvSpPr/>
          <p:nvPr/>
        </p:nvSpPr>
        <p:spPr>
          <a:xfrm>
            <a:off x="4297680" y="3063240"/>
            <a:ext cx="3520440" cy="1371600"/>
          </a:xfrm>
          <a:prstGeom prst="roundRect">
            <a:avLst>
              <a:gd fmla="val 4667" name="adj"/>
            </a:avLst>
          </a:prstGeom>
          <a:solidFill>
            <a:srgbClr val="FFFFFF"/>
          </a:solidFill>
          <a:ln cap="flat" cmpd="sng" w="12700">
            <a:solidFill>
              <a:srgbClr val="E1E7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
          <p:cNvSpPr/>
          <p:nvPr/>
        </p:nvSpPr>
        <p:spPr>
          <a:xfrm>
            <a:off x="4526280" y="3383280"/>
            <a:ext cx="731520" cy="731520"/>
          </a:xfrm>
          <a:prstGeom prst="ellipse">
            <a:avLst/>
          </a:prstGeom>
          <a:solidFill>
            <a:srgbClr val="9900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imes_FFFFFF.png" id="257" name="Google Shape;257;p10"/>
          <p:cNvPicPr preferRelativeResize="0"/>
          <p:nvPr/>
        </p:nvPicPr>
        <p:blipFill rotWithShape="1">
          <a:blip r:embed="rId4">
            <a:alphaModFix/>
          </a:blip>
          <a:srcRect b="0" l="0" r="0" t="0"/>
          <a:stretch/>
        </p:blipFill>
        <p:spPr>
          <a:xfrm>
            <a:off x="4716475" y="3573475"/>
            <a:ext cx="351130" cy="351130"/>
          </a:xfrm>
          <a:prstGeom prst="rect">
            <a:avLst/>
          </a:prstGeom>
          <a:noFill/>
          <a:ln>
            <a:noFill/>
          </a:ln>
        </p:spPr>
      </p:pic>
      <p:sp>
        <p:nvSpPr>
          <p:cNvPr id="258" name="Google Shape;258;p10"/>
          <p:cNvSpPr/>
          <p:nvPr/>
        </p:nvSpPr>
        <p:spPr>
          <a:xfrm>
            <a:off x="5394960" y="3291840"/>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mbria"/>
              <a:buNone/>
            </a:pPr>
            <a:r>
              <a:rPr b="1" i="0" lang="en-US" sz="1350" u="none" cap="none" strike="noStrike">
                <a:solidFill>
                  <a:srgbClr val="1B2333"/>
                </a:solidFill>
                <a:latin typeface="Cambria"/>
                <a:ea typeface="Cambria"/>
                <a:cs typeface="Cambria"/>
                <a:sym typeface="Cambria"/>
              </a:rPr>
              <a:t>failed (intentional)</a:t>
            </a:r>
            <a:endParaRPr b="0" i="0" sz="1350" u="none" cap="none" strike="noStrike">
              <a:solidFill>
                <a:schemeClr val="dk1"/>
              </a:solidFill>
              <a:latin typeface="Calibri"/>
              <a:ea typeface="Calibri"/>
              <a:cs typeface="Calibri"/>
              <a:sym typeface="Calibri"/>
            </a:endParaRPr>
          </a:p>
        </p:txBody>
      </p:sp>
      <p:sp>
        <p:nvSpPr>
          <p:cNvPr id="259" name="Google Shape;259;p10"/>
          <p:cNvSpPr/>
          <p:nvPr/>
        </p:nvSpPr>
        <p:spPr>
          <a:xfrm>
            <a:off x="5394960" y="3685032"/>
            <a:ext cx="22402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50"/>
              <a:buFont typeface="Calibri"/>
              <a:buNone/>
            </a:pPr>
            <a:r>
              <a:rPr b="0" i="0" lang="en-US" sz="1050" u="none" cap="none" strike="noStrike">
                <a:solidFill>
                  <a:srgbClr val="5A6478"/>
                </a:solidFill>
                <a:latin typeface="Calibri"/>
                <a:ea typeface="Calibri"/>
                <a:cs typeface="Calibri"/>
                <a:sym typeface="Calibri"/>
              </a:rPr>
              <a:t>Documented failure, not a real bug</a:t>
            </a:r>
            <a:endParaRPr b="0" i="0" sz="1050" u="none" cap="none" strike="noStrike">
              <a:solidFill>
                <a:schemeClr val="dk1"/>
              </a:solidFill>
              <a:latin typeface="Calibri"/>
              <a:ea typeface="Calibri"/>
              <a:cs typeface="Calibri"/>
              <a:sym typeface="Calibri"/>
            </a:endParaRPr>
          </a:p>
        </p:txBody>
      </p:sp>
      <p:sp>
        <p:nvSpPr>
          <p:cNvPr id="260" name="Google Shape;260;p10"/>
          <p:cNvSpPr/>
          <p:nvPr/>
        </p:nvSpPr>
        <p:spPr>
          <a:xfrm>
            <a:off x="8046720" y="3063240"/>
            <a:ext cx="3520440" cy="1371600"/>
          </a:xfrm>
          <a:prstGeom prst="roundRect">
            <a:avLst>
              <a:gd fmla="val 4667" name="adj"/>
            </a:avLst>
          </a:prstGeom>
          <a:solidFill>
            <a:srgbClr val="FFFFFF"/>
          </a:solidFill>
          <a:ln cap="flat" cmpd="sng" w="12700">
            <a:solidFill>
              <a:srgbClr val="E1E7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p:nvPr/>
        </p:nvSpPr>
        <p:spPr>
          <a:xfrm>
            <a:off x="8275320" y="3383280"/>
            <a:ext cx="731520" cy="731520"/>
          </a:xfrm>
          <a:prstGeom prst="ellipse">
            <a:avLst/>
          </a:prstGeom>
          <a:solidFill>
            <a:srgbClr val="5A64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minus_FFFFFF.png" id="262" name="Google Shape;262;p10"/>
          <p:cNvPicPr preferRelativeResize="0"/>
          <p:nvPr/>
        </p:nvPicPr>
        <p:blipFill rotWithShape="1">
          <a:blip r:embed="rId5">
            <a:alphaModFix/>
          </a:blip>
          <a:srcRect b="0" l="0" r="0" t="0"/>
          <a:stretch/>
        </p:blipFill>
        <p:spPr>
          <a:xfrm>
            <a:off x="8465515" y="3573475"/>
            <a:ext cx="351130" cy="351130"/>
          </a:xfrm>
          <a:prstGeom prst="rect">
            <a:avLst/>
          </a:prstGeom>
          <a:noFill/>
          <a:ln>
            <a:noFill/>
          </a:ln>
        </p:spPr>
      </p:pic>
      <p:sp>
        <p:nvSpPr>
          <p:cNvPr id="263" name="Google Shape;263;p10"/>
          <p:cNvSpPr/>
          <p:nvPr/>
        </p:nvSpPr>
        <p:spPr>
          <a:xfrm>
            <a:off x="9144000" y="3291840"/>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mbria"/>
              <a:buNone/>
            </a:pPr>
            <a:r>
              <a:rPr b="1" i="0" lang="en-US" sz="1350" u="none" cap="none" strike="noStrike">
                <a:solidFill>
                  <a:srgbClr val="1B2333"/>
                </a:solidFill>
                <a:latin typeface="Cambria"/>
                <a:ea typeface="Cambria"/>
                <a:cs typeface="Cambria"/>
                <a:sym typeface="Cambria"/>
              </a:rPr>
              <a:t>skipped</a:t>
            </a:r>
            <a:endParaRPr b="0" i="0" sz="1350" u="none" cap="none" strike="noStrike">
              <a:solidFill>
                <a:schemeClr val="dk1"/>
              </a:solidFill>
              <a:latin typeface="Calibri"/>
              <a:ea typeface="Calibri"/>
              <a:cs typeface="Calibri"/>
              <a:sym typeface="Calibri"/>
            </a:endParaRPr>
          </a:p>
        </p:txBody>
      </p:sp>
      <p:sp>
        <p:nvSpPr>
          <p:cNvPr id="264" name="Google Shape;264;p10"/>
          <p:cNvSpPr/>
          <p:nvPr/>
        </p:nvSpPr>
        <p:spPr>
          <a:xfrm>
            <a:off x="9144000" y="3685032"/>
            <a:ext cx="22402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50"/>
              <a:buFont typeface="Calibri"/>
              <a:buNone/>
            </a:pPr>
            <a:r>
              <a:rPr b="0" i="0" lang="en-US" sz="1050" u="none" cap="none" strike="noStrike">
                <a:solidFill>
                  <a:srgbClr val="5A6478"/>
                </a:solidFill>
                <a:latin typeface="Calibri"/>
                <a:ea typeface="Calibri"/>
                <a:cs typeface="Calibri"/>
                <a:sym typeface="Calibri"/>
              </a:rPr>
              <a:t>Out-of-scope backlog item</a:t>
            </a:r>
            <a:endParaRPr b="0" i="0" sz="1050" u="none" cap="none" strike="noStrike">
              <a:solidFill>
                <a:schemeClr val="dk1"/>
              </a:solidFill>
              <a:latin typeface="Calibri"/>
              <a:ea typeface="Calibri"/>
              <a:cs typeface="Calibri"/>
              <a:sym typeface="Calibri"/>
            </a:endParaRPr>
          </a:p>
        </p:txBody>
      </p:sp>
      <p:sp>
        <p:nvSpPr>
          <p:cNvPr id="265" name="Google Shape;265;p10"/>
          <p:cNvSpPr/>
          <p:nvPr/>
        </p:nvSpPr>
        <p:spPr>
          <a:xfrm>
            <a:off x="548640" y="4572000"/>
            <a:ext cx="11064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alibri"/>
              <a:buNone/>
            </a:pPr>
            <a:r>
              <a:rPr b="0" i="1" lang="en-US" sz="1100" u="none" cap="none" strike="noStrike">
                <a:solidFill>
                  <a:srgbClr val="5A6478"/>
                </a:solidFill>
                <a:latin typeface="Calibri"/>
                <a:ea typeface="Calibri"/>
                <a:cs typeface="Calibri"/>
                <a:sym typeface="Calibri"/>
              </a:rPr>
              <a:t>report-showcase.spec.ts (tag @demo) — runs independently of the CI gate via npm run test:showcase</a:t>
            </a:r>
            <a:endParaRPr b="0" i="0" sz="1100" u="none" cap="none" strike="noStrike">
              <a:solidFill>
                <a:schemeClr val="dk1"/>
              </a:solidFill>
              <a:latin typeface="Calibri"/>
              <a:ea typeface="Calibri"/>
              <a:cs typeface="Calibri"/>
              <a:sym typeface="Calibri"/>
            </a:endParaRPr>
          </a:p>
        </p:txBody>
      </p:sp>
      <p:sp>
        <p:nvSpPr>
          <p:cNvPr id="266" name="Google Shape;266;p10"/>
          <p:cNvSpPr/>
          <p:nvPr/>
        </p:nvSpPr>
        <p:spPr>
          <a:xfrm>
            <a:off x="548640" y="5074920"/>
            <a:ext cx="11064240" cy="1143000"/>
          </a:xfrm>
          <a:prstGeom prst="roundRect">
            <a:avLst>
              <a:gd fmla="val 5600" name="adj"/>
            </a:avLst>
          </a:prstGeom>
          <a:solidFill>
            <a:srgbClr val="FDECEC"/>
          </a:solidFill>
          <a:ln cap="flat" cmpd="sng" w="12700">
            <a:solidFill>
              <a:srgbClr val="F1C6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777240" y="5303520"/>
            <a:ext cx="640080" cy="640080"/>
          </a:xfrm>
          <a:prstGeom prst="ellipse">
            <a:avLst/>
          </a:prstGeom>
          <a:solidFill>
            <a:srgbClr val="9900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key_FFFFFF.png" id="268" name="Google Shape;268;p10"/>
          <p:cNvPicPr preferRelativeResize="0"/>
          <p:nvPr/>
        </p:nvPicPr>
        <p:blipFill rotWithShape="1">
          <a:blip r:embed="rId6">
            <a:alphaModFix/>
          </a:blip>
          <a:srcRect b="0" l="0" r="0" t="0"/>
          <a:stretch/>
        </p:blipFill>
        <p:spPr>
          <a:xfrm>
            <a:off x="943661" y="5469941"/>
            <a:ext cx="307238" cy="307238"/>
          </a:xfrm>
          <a:prstGeom prst="rect">
            <a:avLst/>
          </a:prstGeom>
          <a:noFill/>
          <a:ln>
            <a:noFill/>
          </a:ln>
        </p:spPr>
      </p:pic>
      <p:sp>
        <p:nvSpPr>
          <p:cNvPr id="269" name="Google Shape;269;p10"/>
          <p:cNvSpPr/>
          <p:nvPr/>
        </p:nvSpPr>
        <p:spPr>
          <a:xfrm>
            <a:off x="1600200" y="5193792"/>
            <a:ext cx="982980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990011"/>
              </a:buClr>
              <a:buSzPts val="1200"/>
              <a:buFont typeface="Calibri"/>
              <a:buNone/>
            </a:pPr>
            <a:r>
              <a:rPr b="1" i="0" lang="en-US" sz="1200" u="none" cap="none" strike="noStrike">
                <a:solidFill>
                  <a:srgbClr val="990011"/>
                </a:solidFill>
                <a:latin typeface="Calibri"/>
                <a:ea typeface="Calibri"/>
                <a:cs typeface="Calibri"/>
                <a:sym typeface="Calibri"/>
              </a:rPr>
              <a:t>Security incident, handled correctly: </a:t>
            </a:r>
            <a:r>
              <a:rPr b="0" i="0" lang="en-US" sz="1200" u="none" cap="none" strike="noStrike">
                <a:solidFill>
                  <a:srgbClr val="1B2333"/>
                </a:solidFill>
                <a:latin typeface="Calibri"/>
                <a:ea typeface="Calibri"/>
                <a:cs typeface="Calibri"/>
                <a:sym typeface="Calibri"/>
              </a:rPr>
              <a:t>the .env file with the Gemini API key slipped into an intermediate commit. GitHub Push Protection blocked the push before it reached the remote. Resolved via immediate key rotation and commit --amend — no public exposure.</a:t>
            </a:r>
            <a:endParaRPr b="0" i="0" sz="1200" u="none" cap="none" strike="noStrike">
              <a:solidFill>
                <a:schemeClr val="dk1"/>
              </a:solidFill>
              <a:latin typeface="Calibri"/>
              <a:ea typeface="Calibri"/>
              <a:cs typeface="Calibri"/>
              <a:sym typeface="Calibri"/>
            </a:endParaRPr>
          </a:p>
        </p:txBody>
      </p:sp>
      <p:sp>
        <p:nvSpPr>
          <p:cNvPr id="270" name="Google Shape;270;p10"/>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271" name="Google Shape;271;p10"/>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76" name="Shape 276"/>
        <p:cNvGrpSpPr/>
        <p:nvPr/>
      </p:nvGrpSpPr>
      <p:grpSpPr>
        <a:xfrm>
          <a:off x="0" y="0"/>
          <a:ext cx="0" cy="0"/>
          <a:chOff x="0" y="0"/>
          <a:chExt cx="0" cy="0"/>
        </a:xfrm>
      </p:grpSpPr>
      <p:sp>
        <p:nvSpPr>
          <p:cNvPr id="277" name="Google Shape;277;p11"/>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TRANSPARENCY</a:t>
            </a:r>
            <a:endParaRPr b="0" i="0" sz="1300" u="none" cap="none" strike="noStrike">
              <a:solidFill>
                <a:schemeClr val="dk1"/>
              </a:solidFill>
              <a:latin typeface="Calibri"/>
              <a:ea typeface="Calibri"/>
              <a:cs typeface="Calibri"/>
              <a:sym typeface="Calibri"/>
            </a:endParaRPr>
          </a:p>
        </p:txBody>
      </p:sp>
      <p:sp>
        <p:nvSpPr>
          <p:cNvPr id="278" name="Google Shape;278;p11"/>
          <p:cNvSpPr/>
          <p:nvPr/>
        </p:nvSpPr>
        <p:spPr>
          <a:xfrm>
            <a:off x="548640" y="65836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Known trade-offs — decisions, not oversights</a:t>
            </a:r>
            <a:endParaRPr b="0" i="0" sz="3000" u="none" cap="none" strike="noStrike">
              <a:solidFill>
                <a:schemeClr val="dk1"/>
              </a:solidFill>
              <a:latin typeface="Calibri"/>
              <a:ea typeface="Calibri"/>
              <a:cs typeface="Calibri"/>
              <a:sym typeface="Calibri"/>
            </a:endParaRPr>
          </a:p>
        </p:txBody>
      </p:sp>
      <p:sp>
        <p:nvSpPr>
          <p:cNvPr id="279" name="Google Shape;279;p11"/>
          <p:cNvSpPr/>
          <p:nvPr/>
        </p:nvSpPr>
        <p:spPr>
          <a:xfrm>
            <a:off x="548640" y="1463040"/>
            <a:ext cx="457200" cy="457200"/>
          </a:xfrm>
          <a:prstGeom prst="ellipse">
            <a:avLst/>
          </a:prstGeom>
          <a:solidFill>
            <a:srgbClr val="E8EC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alance_1E2761.png" id="280" name="Google Shape;280;p11"/>
          <p:cNvPicPr preferRelativeResize="0"/>
          <p:nvPr/>
        </p:nvPicPr>
        <p:blipFill rotWithShape="1">
          <a:blip r:embed="rId3">
            <a:alphaModFix/>
          </a:blip>
          <a:srcRect b="0" l="0" r="0" t="0"/>
          <a:stretch/>
        </p:blipFill>
        <p:spPr>
          <a:xfrm>
            <a:off x="667512" y="1581912"/>
            <a:ext cx="219456" cy="219456"/>
          </a:xfrm>
          <a:prstGeom prst="rect">
            <a:avLst/>
          </a:prstGeom>
          <a:noFill/>
          <a:ln>
            <a:noFill/>
          </a:ln>
        </p:spPr>
      </p:pic>
      <p:sp>
        <p:nvSpPr>
          <p:cNvPr id="281" name="Google Shape;281;p11"/>
          <p:cNvSpPr/>
          <p:nvPr/>
        </p:nvSpPr>
        <p:spPr>
          <a:xfrm>
            <a:off x="1170432" y="1417320"/>
            <a:ext cx="472744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250"/>
              <a:buFont typeface="Calibri"/>
              <a:buNone/>
            </a:pPr>
            <a:r>
              <a:rPr b="1" i="0" lang="en-US" sz="1250" u="none" cap="none" strike="noStrike">
                <a:solidFill>
                  <a:srgbClr val="1B2333"/>
                </a:solidFill>
                <a:latin typeface="Calibri"/>
                <a:ea typeface="Calibri"/>
                <a:cs typeface="Calibri"/>
                <a:sym typeface="Calibri"/>
              </a:rPr>
              <a:t>Cross-browser disabled</a:t>
            </a:r>
            <a:endParaRPr b="0" i="0" sz="1250" u="none" cap="none" strike="noStrike">
              <a:solidFill>
                <a:schemeClr val="dk1"/>
              </a:solidFill>
              <a:latin typeface="Calibri"/>
              <a:ea typeface="Calibri"/>
              <a:cs typeface="Calibri"/>
              <a:sym typeface="Calibri"/>
            </a:endParaRPr>
          </a:p>
        </p:txBody>
      </p:sp>
      <p:sp>
        <p:nvSpPr>
          <p:cNvPr id="282" name="Google Shape;282;p11"/>
          <p:cNvSpPr/>
          <p:nvPr/>
        </p:nvSpPr>
        <p:spPr>
          <a:xfrm>
            <a:off x="1170432" y="1746504"/>
            <a:ext cx="472744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80"/>
              <a:buFont typeface="Calibri"/>
              <a:buNone/>
            </a:pPr>
            <a:r>
              <a:rPr b="0" i="0" lang="en-US" sz="1080" u="none" cap="none" strike="noStrike">
                <a:solidFill>
                  <a:srgbClr val="5A6478"/>
                </a:solidFill>
                <a:latin typeface="Calibri"/>
                <a:ea typeface="Calibri"/>
                <a:cs typeface="Calibri"/>
                <a:sym typeface="Calibri"/>
              </a:rPr>
              <a:t>Chromium only, due to the 11h time budget; Firefox and WebKit are left commented out in the config.</a:t>
            </a:r>
            <a:endParaRPr b="0" i="0" sz="1080" u="none" cap="none" strike="noStrike">
              <a:solidFill>
                <a:schemeClr val="dk1"/>
              </a:solidFill>
              <a:latin typeface="Calibri"/>
              <a:ea typeface="Calibri"/>
              <a:cs typeface="Calibri"/>
              <a:sym typeface="Calibri"/>
            </a:endParaRPr>
          </a:p>
        </p:txBody>
      </p:sp>
      <p:sp>
        <p:nvSpPr>
          <p:cNvPr id="283" name="Google Shape;283;p11"/>
          <p:cNvSpPr/>
          <p:nvPr/>
        </p:nvSpPr>
        <p:spPr>
          <a:xfrm>
            <a:off x="6263640" y="1463040"/>
            <a:ext cx="457200" cy="457200"/>
          </a:xfrm>
          <a:prstGeom prst="ellipse">
            <a:avLst/>
          </a:prstGeom>
          <a:solidFill>
            <a:srgbClr val="E8EC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alance_1E2761.png" id="284" name="Google Shape;284;p11"/>
          <p:cNvPicPr preferRelativeResize="0"/>
          <p:nvPr/>
        </p:nvPicPr>
        <p:blipFill rotWithShape="1">
          <a:blip r:embed="rId3">
            <a:alphaModFix/>
          </a:blip>
          <a:srcRect b="0" l="0" r="0" t="0"/>
          <a:stretch/>
        </p:blipFill>
        <p:spPr>
          <a:xfrm>
            <a:off x="6382512" y="1581912"/>
            <a:ext cx="219456" cy="219456"/>
          </a:xfrm>
          <a:prstGeom prst="rect">
            <a:avLst/>
          </a:prstGeom>
          <a:noFill/>
          <a:ln>
            <a:noFill/>
          </a:ln>
        </p:spPr>
      </p:pic>
      <p:sp>
        <p:nvSpPr>
          <p:cNvPr id="285" name="Google Shape;285;p11"/>
          <p:cNvSpPr/>
          <p:nvPr/>
        </p:nvSpPr>
        <p:spPr>
          <a:xfrm>
            <a:off x="6885432" y="1417320"/>
            <a:ext cx="472744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250"/>
              <a:buFont typeface="Calibri"/>
              <a:buNone/>
            </a:pPr>
            <a:r>
              <a:rPr b="1" i="0" lang="en-US" sz="1250" u="none" cap="none" strike="noStrike">
                <a:solidFill>
                  <a:srgbClr val="1B2333"/>
                </a:solidFill>
                <a:latin typeface="Calibri"/>
                <a:ea typeface="Calibri"/>
                <a:cs typeface="Calibri"/>
                <a:sym typeface="Calibri"/>
              </a:rPr>
              <a:t>CI exclusion mechanism partially fragile</a:t>
            </a:r>
            <a:endParaRPr b="0" i="0" sz="1250" u="none" cap="none" strike="noStrike">
              <a:solidFill>
                <a:schemeClr val="dk1"/>
              </a:solidFill>
              <a:latin typeface="Calibri"/>
              <a:ea typeface="Calibri"/>
              <a:cs typeface="Calibri"/>
              <a:sym typeface="Calibri"/>
            </a:endParaRPr>
          </a:p>
        </p:txBody>
      </p:sp>
      <p:sp>
        <p:nvSpPr>
          <p:cNvPr id="286" name="Google Shape;286;p11"/>
          <p:cNvSpPr/>
          <p:nvPr/>
        </p:nvSpPr>
        <p:spPr>
          <a:xfrm>
            <a:off x="6885432" y="1746504"/>
            <a:ext cx="472744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80"/>
              <a:buFont typeface="Calibri"/>
              <a:buNone/>
            </a:pPr>
            <a:r>
              <a:rPr b="0" i="0" lang="en-US" sz="1080" u="none" cap="none" strike="noStrike">
                <a:solidFill>
                  <a:srgbClr val="5A6478"/>
                </a:solidFill>
                <a:latin typeface="Calibri"/>
                <a:ea typeface="Calibri"/>
                <a:cs typeface="Calibri"/>
                <a:sym typeface="Calibri"/>
              </a:rPr>
              <a:t>visual-regression is excluded by free text in describe(), not by a tag — documented as technical debt.</a:t>
            </a:r>
            <a:endParaRPr b="0" i="0" sz="1080" u="none" cap="none" strike="noStrike">
              <a:solidFill>
                <a:schemeClr val="dk1"/>
              </a:solidFill>
              <a:latin typeface="Calibri"/>
              <a:ea typeface="Calibri"/>
              <a:cs typeface="Calibri"/>
              <a:sym typeface="Calibri"/>
            </a:endParaRPr>
          </a:p>
        </p:txBody>
      </p:sp>
      <p:sp>
        <p:nvSpPr>
          <p:cNvPr id="287" name="Google Shape;287;p11"/>
          <p:cNvSpPr/>
          <p:nvPr/>
        </p:nvSpPr>
        <p:spPr>
          <a:xfrm>
            <a:off x="548640" y="2770632"/>
            <a:ext cx="457200" cy="457200"/>
          </a:xfrm>
          <a:prstGeom prst="ellipse">
            <a:avLst/>
          </a:prstGeom>
          <a:solidFill>
            <a:srgbClr val="E8EC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alance_1E2761.png" id="288" name="Google Shape;288;p11"/>
          <p:cNvPicPr preferRelativeResize="0"/>
          <p:nvPr/>
        </p:nvPicPr>
        <p:blipFill rotWithShape="1">
          <a:blip r:embed="rId3">
            <a:alphaModFix/>
          </a:blip>
          <a:srcRect b="0" l="0" r="0" t="0"/>
          <a:stretch/>
        </p:blipFill>
        <p:spPr>
          <a:xfrm>
            <a:off x="667512" y="2889504"/>
            <a:ext cx="219456" cy="219456"/>
          </a:xfrm>
          <a:prstGeom prst="rect">
            <a:avLst/>
          </a:prstGeom>
          <a:noFill/>
          <a:ln>
            <a:noFill/>
          </a:ln>
        </p:spPr>
      </p:pic>
      <p:sp>
        <p:nvSpPr>
          <p:cNvPr id="289" name="Google Shape;289;p11"/>
          <p:cNvSpPr/>
          <p:nvPr/>
        </p:nvSpPr>
        <p:spPr>
          <a:xfrm>
            <a:off x="1170432" y="2724912"/>
            <a:ext cx="472744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250"/>
              <a:buFont typeface="Calibri"/>
              <a:buNone/>
            </a:pPr>
            <a:r>
              <a:rPr b="1" i="0" lang="en-US" sz="1250" u="none" cap="none" strike="noStrike">
                <a:solidFill>
                  <a:srgbClr val="1B2333"/>
                </a:solidFill>
                <a:latin typeface="Calibri"/>
                <a:ea typeface="Calibri"/>
                <a:cs typeface="Calibri"/>
                <a:sym typeface="Calibri"/>
              </a:rPr>
              <a:t>Visual baseline is platform-dependent</a:t>
            </a:r>
            <a:endParaRPr b="0" i="0" sz="1250" u="none" cap="none" strike="noStrike">
              <a:solidFill>
                <a:schemeClr val="dk1"/>
              </a:solidFill>
              <a:latin typeface="Calibri"/>
              <a:ea typeface="Calibri"/>
              <a:cs typeface="Calibri"/>
              <a:sym typeface="Calibri"/>
            </a:endParaRPr>
          </a:p>
        </p:txBody>
      </p:sp>
      <p:sp>
        <p:nvSpPr>
          <p:cNvPr id="290" name="Google Shape;290;p11"/>
          <p:cNvSpPr/>
          <p:nvPr/>
        </p:nvSpPr>
        <p:spPr>
          <a:xfrm>
            <a:off x="1170432" y="3054096"/>
            <a:ext cx="472744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80"/>
              <a:buFont typeface="Calibri"/>
              <a:buNone/>
            </a:pPr>
            <a:r>
              <a:rPr b="0" i="0" lang="en-US" sz="1080" u="none" cap="none" strike="noStrike">
                <a:solidFill>
                  <a:srgbClr val="5A6478"/>
                </a:solidFill>
                <a:latin typeface="Calibri"/>
                <a:ea typeface="Calibri"/>
                <a:cs typeface="Calibri"/>
                <a:sym typeface="Calibri"/>
              </a:rPr>
              <a:t>Generated on Windows (-win32); excluded from the gate instead of regenerating a Linux baseline.</a:t>
            </a:r>
            <a:endParaRPr b="0" i="0" sz="1080" u="none" cap="none" strike="noStrike">
              <a:solidFill>
                <a:schemeClr val="dk1"/>
              </a:solidFill>
              <a:latin typeface="Calibri"/>
              <a:ea typeface="Calibri"/>
              <a:cs typeface="Calibri"/>
              <a:sym typeface="Calibri"/>
            </a:endParaRPr>
          </a:p>
        </p:txBody>
      </p:sp>
      <p:sp>
        <p:nvSpPr>
          <p:cNvPr id="291" name="Google Shape;291;p11"/>
          <p:cNvSpPr/>
          <p:nvPr/>
        </p:nvSpPr>
        <p:spPr>
          <a:xfrm>
            <a:off x="6263640" y="2770632"/>
            <a:ext cx="457200" cy="457200"/>
          </a:xfrm>
          <a:prstGeom prst="ellipse">
            <a:avLst/>
          </a:prstGeom>
          <a:solidFill>
            <a:srgbClr val="E8EC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alance_1E2761.png" id="292" name="Google Shape;292;p11"/>
          <p:cNvPicPr preferRelativeResize="0"/>
          <p:nvPr/>
        </p:nvPicPr>
        <p:blipFill rotWithShape="1">
          <a:blip r:embed="rId3">
            <a:alphaModFix/>
          </a:blip>
          <a:srcRect b="0" l="0" r="0" t="0"/>
          <a:stretch/>
        </p:blipFill>
        <p:spPr>
          <a:xfrm>
            <a:off x="6382512" y="2889504"/>
            <a:ext cx="219456" cy="219456"/>
          </a:xfrm>
          <a:prstGeom prst="rect">
            <a:avLst/>
          </a:prstGeom>
          <a:noFill/>
          <a:ln>
            <a:noFill/>
          </a:ln>
        </p:spPr>
      </p:pic>
      <p:sp>
        <p:nvSpPr>
          <p:cNvPr id="293" name="Google Shape;293;p11"/>
          <p:cNvSpPr/>
          <p:nvPr/>
        </p:nvSpPr>
        <p:spPr>
          <a:xfrm>
            <a:off x="6885432" y="2724912"/>
            <a:ext cx="472744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250"/>
              <a:buFont typeface="Calibri"/>
              <a:buNone/>
            </a:pPr>
            <a:r>
              <a:rPr b="1" i="0" lang="en-US" sz="1250" u="none" cap="none" strike="noStrike">
                <a:solidFill>
                  <a:srgbClr val="1B2333"/>
                </a:solidFill>
                <a:latin typeface="Calibri"/>
                <a:ea typeface="Calibri"/>
                <a:cs typeface="Calibri"/>
                <a:sym typeface="Calibri"/>
              </a:rPr>
              <a:t>src/utils/logger.ts not implemented</a:t>
            </a:r>
            <a:endParaRPr b="0" i="0" sz="1250" u="none" cap="none" strike="noStrike">
              <a:solidFill>
                <a:schemeClr val="dk1"/>
              </a:solidFill>
              <a:latin typeface="Calibri"/>
              <a:ea typeface="Calibri"/>
              <a:cs typeface="Calibri"/>
              <a:sym typeface="Calibri"/>
            </a:endParaRPr>
          </a:p>
        </p:txBody>
      </p:sp>
      <p:sp>
        <p:nvSpPr>
          <p:cNvPr id="294" name="Google Shape;294;p11"/>
          <p:cNvSpPr/>
          <p:nvPr/>
        </p:nvSpPr>
        <p:spPr>
          <a:xfrm>
            <a:off x="6885432" y="3054096"/>
            <a:ext cx="472744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80"/>
              <a:buFont typeface="Calibri"/>
              <a:buNone/>
            </a:pPr>
            <a:r>
              <a:rPr b="0" i="0" lang="en-US" sz="1080" u="none" cap="none" strike="noStrike">
                <a:solidFill>
                  <a:srgbClr val="5A6478"/>
                </a:solidFill>
                <a:latin typeface="Calibri"/>
                <a:ea typeface="Calibri"/>
                <a:cs typeface="Calibri"/>
                <a:sym typeface="Calibri"/>
              </a:rPr>
              <a:t>Exists as a placeholder; there's no centralized logging today.</a:t>
            </a:r>
            <a:endParaRPr b="0" i="0" sz="1080" u="none" cap="none" strike="noStrike">
              <a:solidFill>
                <a:schemeClr val="dk1"/>
              </a:solidFill>
              <a:latin typeface="Calibri"/>
              <a:ea typeface="Calibri"/>
              <a:cs typeface="Calibri"/>
              <a:sym typeface="Calibri"/>
            </a:endParaRPr>
          </a:p>
        </p:txBody>
      </p:sp>
      <p:sp>
        <p:nvSpPr>
          <p:cNvPr id="295" name="Google Shape;295;p11"/>
          <p:cNvSpPr/>
          <p:nvPr/>
        </p:nvSpPr>
        <p:spPr>
          <a:xfrm>
            <a:off x="548640" y="4078224"/>
            <a:ext cx="457200" cy="457200"/>
          </a:xfrm>
          <a:prstGeom prst="ellipse">
            <a:avLst/>
          </a:prstGeom>
          <a:solidFill>
            <a:srgbClr val="E8EC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alance_1E2761.png" id="296" name="Google Shape;296;p11"/>
          <p:cNvPicPr preferRelativeResize="0"/>
          <p:nvPr/>
        </p:nvPicPr>
        <p:blipFill rotWithShape="1">
          <a:blip r:embed="rId3">
            <a:alphaModFix/>
          </a:blip>
          <a:srcRect b="0" l="0" r="0" t="0"/>
          <a:stretch/>
        </p:blipFill>
        <p:spPr>
          <a:xfrm>
            <a:off x="667512" y="4197096"/>
            <a:ext cx="219456" cy="219456"/>
          </a:xfrm>
          <a:prstGeom prst="rect">
            <a:avLst/>
          </a:prstGeom>
          <a:noFill/>
          <a:ln>
            <a:noFill/>
          </a:ln>
        </p:spPr>
      </p:pic>
      <p:sp>
        <p:nvSpPr>
          <p:cNvPr id="297" name="Google Shape;297;p11"/>
          <p:cNvSpPr/>
          <p:nvPr/>
        </p:nvSpPr>
        <p:spPr>
          <a:xfrm>
            <a:off x="1170432" y="4032504"/>
            <a:ext cx="472744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250"/>
              <a:buFont typeface="Calibri"/>
              <a:buNone/>
            </a:pPr>
            <a:r>
              <a:rPr b="1" i="0" lang="en-US" sz="1250" u="none" cap="none" strike="noStrike">
                <a:solidFill>
                  <a:srgbClr val="1B2333"/>
                </a:solidFill>
                <a:latin typeface="Calibri"/>
                <a:ea typeface="Calibri"/>
                <a:cs typeface="Calibri"/>
                <a:sym typeface="Calibri"/>
              </a:rPr>
              <a:t>AI scripts have no package.json shortcut</a:t>
            </a:r>
            <a:endParaRPr b="0" i="0" sz="1250" u="none" cap="none" strike="noStrike">
              <a:solidFill>
                <a:schemeClr val="dk1"/>
              </a:solidFill>
              <a:latin typeface="Calibri"/>
              <a:ea typeface="Calibri"/>
              <a:cs typeface="Calibri"/>
              <a:sym typeface="Calibri"/>
            </a:endParaRPr>
          </a:p>
        </p:txBody>
      </p:sp>
      <p:sp>
        <p:nvSpPr>
          <p:cNvPr id="298" name="Google Shape;298;p11"/>
          <p:cNvSpPr/>
          <p:nvPr/>
        </p:nvSpPr>
        <p:spPr>
          <a:xfrm>
            <a:off x="1170432" y="4361688"/>
            <a:ext cx="472744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80"/>
              <a:buFont typeface="Calibri"/>
              <a:buNone/>
            </a:pPr>
            <a:r>
              <a:rPr b="0" i="0" lang="en-US" sz="1080" u="none" cap="none" strike="noStrike">
                <a:solidFill>
                  <a:srgbClr val="5A6478"/>
                </a:solidFill>
                <a:latin typeface="Calibri"/>
                <a:ea typeface="Calibri"/>
                <a:cs typeface="Calibri"/>
                <a:sym typeface="Calibri"/>
              </a:rPr>
              <a:t>Invoked with npx tsx instead of npm run — functional but less ergonomic.</a:t>
            </a:r>
            <a:endParaRPr b="0" i="0" sz="1080" u="none" cap="none" strike="noStrike">
              <a:solidFill>
                <a:schemeClr val="dk1"/>
              </a:solidFill>
              <a:latin typeface="Calibri"/>
              <a:ea typeface="Calibri"/>
              <a:cs typeface="Calibri"/>
              <a:sym typeface="Calibri"/>
            </a:endParaRPr>
          </a:p>
        </p:txBody>
      </p:sp>
      <p:sp>
        <p:nvSpPr>
          <p:cNvPr id="299" name="Google Shape;299;p11"/>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300" name="Google Shape;300;p11"/>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05" name="Shape 305"/>
        <p:cNvGrpSpPr/>
        <p:nvPr/>
      </p:nvGrpSpPr>
      <p:grpSpPr>
        <a:xfrm>
          <a:off x="0" y="0"/>
          <a:ext cx="0" cy="0"/>
          <a:chOff x="0" y="0"/>
          <a:chExt cx="0" cy="0"/>
        </a:xfrm>
      </p:grpSpPr>
      <p:sp>
        <p:nvSpPr>
          <p:cNvPr id="306" name="Google Shape;306;p12"/>
          <p:cNvSpPr/>
          <p:nvPr/>
        </p:nvSpPr>
        <p:spPr>
          <a:xfrm>
            <a:off x="548640" y="384048"/>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990011"/>
                </a:solidFill>
                <a:latin typeface="Calibri"/>
                <a:ea typeface="Calibri"/>
                <a:cs typeface="Calibri"/>
                <a:sym typeface="Calibri"/>
              </a:rPr>
              <a:t>SCALABILITY</a:t>
            </a:r>
            <a:endParaRPr b="0" i="0" sz="1300" u="none" cap="none" strike="noStrike">
              <a:solidFill>
                <a:schemeClr val="dk1"/>
              </a:solidFill>
              <a:latin typeface="Calibri"/>
              <a:ea typeface="Calibri"/>
              <a:cs typeface="Calibri"/>
              <a:sym typeface="Calibri"/>
            </a:endParaRPr>
          </a:p>
        </p:txBody>
      </p:sp>
      <p:sp>
        <p:nvSpPr>
          <p:cNvPr id="307" name="Google Shape;307;p12"/>
          <p:cNvSpPr/>
          <p:nvPr/>
        </p:nvSpPr>
        <p:spPr>
          <a:xfrm>
            <a:off x="548640" y="658368"/>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How does this grow to 500+ tests?</a:t>
            </a:r>
            <a:endParaRPr b="0" i="0" sz="3000" u="none" cap="none" strike="noStrike">
              <a:solidFill>
                <a:schemeClr val="dk1"/>
              </a:solidFill>
              <a:latin typeface="Calibri"/>
              <a:ea typeface="Calibri"/>
              <a:cs typeface="Calibri"/>
              <a:sym typeface="Calibri"/>
            </a:endParaRPr>
          </a:p>
        </p:txBody>
      </p:sp>
      <p:sp>
        <p:nvSpPr>
          <p:cNvPr id="308" name="Google Shape;308;p12"/>
          <p:cNvSpPr/>
          <p:nvPr/>
        </p:nvSpPr>
        <p:spPr>
          <a:xfrm>
            <a:off x="548640" y="1417320"/>
            <a:ext cx="5257800" cy="1965960"/>
          </a:xfrm>
          <a:prstGeom prst="roundRect">
            <a:avLst>
              <a:gd fmla="val 3256"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2"/>
          <p:cNvSpPr/>
          <p:nvPr/>
        </p:nvSpPr>
        <p:spPr>
          <a:xfrm>
            <a:off x="822960" y="169164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network_CADCFC.png" id="310" name="Google Shape;310;p12"/>
          <p:cNvPicPr preferRelativeResize="0"/>
          <p:nvPr/>
        </p:nvPicPr>
        <p:blipFill rotWithShape="1">
          <a:blip r:embed="rId3">
            <a:alphaModFix/>
          </a:blip>
          <a:srcRect b="0" l="0" r="0" t="0"/>
          <a:stretch/>
        </p:blipFill>
        <p:spPr>
          <a:xfrm>
            <a:off x="977494" y="1846174"/>
            <a:ext cx="285293" cy="285293"/>
          </a:xfrm>
          <a:prstGeom prst="rect">
            <a:avLst/>
          </a:prstGeom>
          <a:noFill/>
          <a:ln>
            <a:noFill/>
          </a:ln>
        </p:spPr>
      </p:pic>
      <p:sp>
        <p:nvSpPr>
          <p:cNvPr id="311" name="Google Shape;311;p12"/>
          <p:cNvSpPr/>
          <p:nvPr/>
        </p:nvSpPr>
        <p:spPr>
          <a:xfrm>
            <a:off x="1600200" y="169164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mbria"/>
              <a:buNone/>
            </a:pPr>
            <a:r>
              <a:rPr b="1" i="0" lang="en-US" sz="1400" u="none" cap="none" strike="noStrike">
                <a:solidFill>
                  <a:srgbClr val="1B2333"/>
                </a:solidFill>
                <a:latin typeface="Cambria"/>
                <a:ea typeface="Cambria"/>
                <a:cs typeface="Cambria"/>
                <a:sym typeface="Cambria"/>
              </a:rPr>
              <a:t>Horizontal parallelization</a:t>
            </a:r>
            <a:endParaRPr b="0" i="0" sz="1400" u="none" cap="none" strike="noStrike">
              <a:solidFill>
                <a:schemeClr val="dk1"/>
              </a:solidFill>
              <a:latin typeface="Calibri"/>
              <a:ea typeface="Calibri"/>
              <a:cs typeface="Calibri"/>
              <a:sym typeface="Calibri"/>
            </a:endParaRPr>
          </a:p>
        </p:txBody>
      </p:sp>
      <p:sp>
        <p:nvSpPr>
          <p:cNvPr id="312" name="Google Shape;312;p12"/>
          <p:cNvSpPr/>
          <p:nvPr/>
        </p:nvSpPr>
        <p:spPr>
          <a:xfrm>
            <a:off x="822960" y="2331720"/>
            <a:ext cx="4709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fullyParallel + worker control are already built to combine with Playwright sharding across multiple CI runners.</a:t>
            </a:r>
            <a:endParaRPr b="0" i="0" sz="1150" u="none" cap="none" strike="noStrike">
              <a:solidFill>
                <a:schemeClr val="dk1"/>
              </a:solidFill>
              <a:latin typeface="Calibri"/>
              <a:ea typeface="Calibri"/>
              <a:cs typeface="Calibri"/>
              <a:sym typeface="Calibri"/>
            </a:endParaRPr>
          </a:p>
        </p:txBody>
      </p:sp>
      <p:sp>
        <p:nvSpPr>
          <p:cNvPr id="313" name="Google Shape;313;p12"/>
          <p:cNvSpPr/>
          <p:nvPr/>
        </p:nvSpPr>
        <p:spPr>
          <a:xfrm>
            <a:off x="6080760" y="1417320"/>
            <a:ext cx="5257800" cy="1965960"/>
          </a:xfrm>
          <a:prstGeom prst="roundRect">
            <a:avLst>
              <a:gd fmla="val 3256"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6355080" y="169164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gs_CADCFC.png" id="315" name="Google Shape;315;p12"/>
          <p:cNvPicPr preferRelativeResize="0"/>
          <p:nvPr/>
        </p:nvPicPr>
        <p:blipFill rotWithShape="1">
          <a:blip r:embed="rId4">
            <a:alphaModFix/>
          </a:blip>
          <a:srcRect b="0" l="0" r="0" t="0"/>
          <a:stretch/>
        </p:blipFill>
        <p:spPr>
          <a:xfrm>
            <a:off x="6509614" y="1846174"/>
            <a:ext cx="285293" cy="285293"/>
          </a:xfrm>
          <a:prstGeom prst="rect">
            <a:avLst/>
          </a:prstGeom>
          <a:noFill/>
          <a:ln>
            <a:noFill/>
          </a:ln>
        </p:spPr>
      </p:pic>
      <p:sp>
        <p:nvSpPr>
          <p:cNvPr id="316" name="Google Shape;316;p12"/>
          <p:cNvSpPr/>
          <p:nvPr/>
        </p:nvSpPr>
        <p:spPr>
          <a:xfrm>
            <a:off x="7132320" y="169164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mbria"/>
              <a:buNone/>
            </a:pPr>
            <a:r>
              <a:rPr b="1" i="0" lang="en-US" sz="1400" u="none" cap="none" strike="noStrike">
                <a:solidFill>
                  <a:srgbClr val="1B2333"/>
                </a:solidFill>
                <a:latin typeface="Cambria"/>
                <a:ea typeface="Cambria"/>
                <a:cs typeface="Cambria"/>
                <a:sym typeface="Cambria"/>
              </a:rPr>
              <a:t>Fixtures as an extension layer</a:t>
            </a:r>
            <a:endParaRPr b="0" i="0" sz="1400" u="none" cap="none" strike="noStrike">
              <a:solidFill>
                <a:schemeClr val="dk1"/>
              </a:solidFill>
              <a:latin typeface="Calibri"/>
              <a:ea typeface="Calibri"/>
              <a:cs typeface="Calibri"/>
              <a:sym typeface="Calibri"/>
            </a:endParaRPr>
          </a:p>
        </p:txBody>
      </p:sp>
      <p:sp>
        <p:nvSpPr>
          <p:cNvPr id="317" name="Google Shape;317;p12"/>
          <p:cNvSpPr/>
          <p:nvPr/>
        </p:nvSpPr>
        <p:spPr>
          <a:xfrm>
            <a:off x="6355080" y="2331720"/>
            <a:ext cx="4709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Already proven: went from 1 to 4 Page Objects in the fixture without touching login.spec.ts.</a:t>
            </a:r>
            <a:endParaRPr b="0" i="0" sz="1150" u="none" cap="none" strike="noStrike">
              <a:solidFill>
                <a:schemeClr val="dk1"/>
              </a:solidFill>
              <a:latin typeface="Calibri"/>
              <a:ea typeface="Calibri"/>
              <a:cs typeface="Calibri"/>
              <a:sym typeface="Calibri"/>
            </a:endParaRPr>
          </a:p>
        </p:txBody>
      </p:sp>
      <p:sp>
        <p:nvSpPr>
          <p:cNvPr id="318" name="Google Shape;318;p12"/>
          <p:cNvSpPr/>
          <p:nvPr/>
        </p:nvSpPr>
        <p:spPr>
          <a:xfrm>
            <a:off x="548640" y="3657600"/>
            <a:ext cx="5257800" cy="1965960"/>
          </a:xfrm>
          <a:prstGeom prst="roundRect">
            <a:avLst>
              <a:gd fmla="val 3256"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
          <p:cNvSpPr/>
          <p:nvPr/>
        </p:nvSpPr>
        <p:spPr>
          <a:xfrm>
            <a:off x="822960" y="393192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database_CADCFC.png" id="320" name="Google Shape;320;p12"/>
          <p:cNvPicPr preferRelativeResize="0"/>
          <p:nvPr/>
        </p:nvPicPr>
        <p:blipFill rotWithShape="1">
          <a:blip r:embed="rId5">
            <a:alphaModFix/>
          </a:blip>
          <a:srcRect b="0" l="0" r="0" t="0"/>
          <a:stretch/>
        </p:blipFill>
        <p:spPr>
          <a:xfrm>
            <a:off x="977494" y="4086454"/>
            <a:ext cx="285293" cy="285293"/>
          </a:xfrm>
          <a:prstGeom prst="rect">
            <a:avLst/>
          </a:prstGeom>
          <a:noFill/>
          <a:ln>
            <a:noFill/>
          </a:ln>
        </p:spPr>
      </p:pic>
      <p:sp>
        <p:nvSpPr>
          <p:cNvPr id="321" name="Google Shape;321;p12"/>
          <p:cNvSpPr/>
          <p:nvPr/>
        </p:nvSpPr>
        <p:spPr>
          <a:xfrm>
            <a:off x="1600200" y="393192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mbria"/>
              <a:buNone/>
            </a:pPr>
            <a:r>
              <a:rPr b="1" i="0" lang="en-US" sz="1400" u="none" cap="none" strike="noStrike">
                <a:solidFill>
                  <a:srgbClr val="1B2333"/>
                </a:solidFill>
                <a:latin typeface="Cambria"/>
                <a:ea typeface="Cambria"/>
                <a:cs typeface="Cambria"/>
                <a:sym typeface="Cambria"/>
              </a:rPr>
              <a:t>Data isolated from day one</a:t>
            </a:r>
            <a:endParaRPr b="0" i="0" sz="1400" u="none" cap="none" strike="noStrike">
              <a:solidFill>
                <a:schemeClr val="dk1"/>
              </a:solidFill>
              <a:latin typeface="Calibri"/>
              <a:ea typeface="Calibri"/>
              <a:cs typeface="Calibri"/>
              <a:sym typeface="Calibri"/>
            </a:endParaRPr>
          </a:p>
        </p:txBody>
      </p:sp>
      <p:sp>
        <p:nvSpPr>
          <p:cNvPr id="322" name="Google Shape;322;p12"/>
          <p:cNvSpPr/>
          <p:nvPr/>
        </p:nvSpPr>
        <p:spPr>
          <a:xfrm>
            <a:off x="822960" y="4572000"/>
            <a:ext cx="4709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data/ keeps test logic from getting coupled to specific values as datasets grow.</a:t>
            </a:r>
            <a:endParaRPr b="0" i="0" sz="1150" u="none" cap="none" strike="noStrike">
              <a:solidFill>
                <a:schemeClr val="dk1"/>
              </a:solidFill>
              <a:latin typeface="Calibri"/>
              <a:ea typeface="Calibri"/>
              <a:cs typeface="Calibri"/>
              <a:sym typeface="Calibri"/>
            </a:endParaRPr>
          </a:p>
        </p:txBody>
      </p:sp>
      <p:sp>
        <p:nvSpPr>
          <p:cNvPr id="323" name="Google Shape;323;p12"/>
          <p:cNvSpPr/>
          <p:nvPr/>
        </p:nvSpPr>
        <p:spPr>
          <a:xfrm>
            <a:off x="6080760" y="3657600"/>
            <a:ext cx="5257800" cy="1965960"/>
          </a:xfrm>
          <a:prstGeom prst="roundRect">
            <a:avLst>
              <a:gd fmla="val 3256" name="adj"/>
            </a:avLst>
          </a:prstGeom>
          <a:solidFill>
            <a:srgbClr val="FFFFFF"/>
          </a:solidFill>
          <a:ln cap="flat" cmpd="sng" w="12700">
            <a:solidFill>
              <a:srgbClr val="E1E7F5"/>
            </a:solidFill>
            <a:prstDash val="solid"/>
            <a:round/>
            <a:headEnd len="sm" w="sm" type="none"/>
            <a:tailEnd len="sm" w="sm" type="none"/>
          </a:ln>
          <a:effectLst>
            <a:outerShdw blurRad="88900" rotWithShape="0" algn="bl" dir="5400000" dist="25400">
              <a:srgbClr val="9FAFC9">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2"/>
          <p:cNvSpPr/>
          <p:nvPr/>
        </p:nvSpPr>
        <p:spPr>
          <a:xfrm>
            <a:off x="6355080" y="3931920"/>
            <a:ext cx="594360" cy="5943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artbar_CADCFC.png" id="325" name="Google Shape;325;p12"/>
          <p:cNvPicPr preferRelativeResize="0"/>
          <p:nvPr/>
        </p:nvPicPr>
        <p:blipFill rotWithShape="1">
          <a:blip r:embed="rId6">
            <a:alphaModFix/>
          </a:blip>
          <a:srcRect b="0" l="0" r="0" t="0"/>
          <a:stretch/>
        </p:blipFill>
        <p:spPr>
          <a:xfrm>
            <a:off x="6509614" y="4086454"/>
            <a:ext cx="285293" cy="285293"/>
          </a:xfrm>
          <a:prstGeom prst="rect">
            <a:avLst/>
          </a:prstGeom>
          <a:noFill/>
          <a:ln>
            <a:noFill/>
          </a:ln>
        </p:spPr>
      </p:pic>
      <p:sp>
        <p:nvSpPr>
          <p:cNvPr id="326" name="Google Shape;326;p12"/>
          <p:cNvSpPr/>
          <p:nvPr/>
        </p:nvSpPr>
        <p:spPr>
          <a:xfrm>
            <a:off x="7132320" y="393192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mbria"/>
              <a:buNone/>
            </a:pPr>
            <a:r>
              <a:rPr b="1" i="0" lang="en-US" sz="1400" u="none" cap="none" strike="noStrike">
                <a:solidFill>
                  <a:srgbClr val="1B2333"/>
                </a:solidFill>
                <a:latin typeface="Cambria"/>
                <a:ea typeface="Cambria"/>
                <a:cs typeface="Cambria"/>
                <a:sym typeface="Cambria"/>
              </a:rPr>
              <a:t>Allure as a centralized report</a:t>
            </a:r>
            <a:endParaRPr b="0" i="0" sz="1400" u="none" cap="none" strike="noStrike">
              <a:solidFill>
                <a:schemeClr val="dk1"/>
              </a:solidFill>
              <a:latin typeface="Calibri"/>
              <a:ea typeface="Calibri"/>
              <a:cs typeface="Calibri"/>
              <a:sym typeface="Calibri"/>
            </a:endParaRPr>
          </a:p>
        </p:txBody>
      </p:sp>
      <p:sp>
        <p:nvSpPr>
          <p:cNvPr id="327" name="Google Shape;327;p12"/>
          <p:cNvSpPr/>
          <p:nvPr/>
        </p:nvSpPr>
        <p:spPr>
          <a:xfrm>
            <a:off x="6355080" y="4572000"/>
            <a:ext cx="4709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50"/>
              <a:buFont typeface="Calibri"/>
              <a:buNone/>
            </a:pPr>
            <a:r>
              <a:rPr b="0" i="0" lang="en-US" sz="1150" u="none" cap="none" strike="noStrike">
                <a:solidFill>
                  <a:srgbClr val="5A6478"/>
                </a:solidFill>
                <a:latin typeface="Calibri"/>
                <a:ea typeface="Calibri"/>
                <a:cs typeface="Calibri"/>
                <a:sym typeface="Calibri"/>
              </a:rPr>
              <a:t>At higher volume, failure traceability by evidence becomes critical to avoid hours of manual triage.</a:t>
            </a:r>
            <a:endParaRPr b="0" i="0" sz="1150" u="none" cap="none" strike="noStrike">
              <a:solidFill>
                <a:schemeClr val="dk1"/>
              </a:solidFill>
              <a:latin typeface="Calibri"/>
              <a:ea typeface="Calibri"/>
              <a:cs typeface="Calibri"/>
              <a:sym typeface="Calibri"/>
            </a:endParaRPr>
          </a:p>
        </p:txBody>
      </p:sp>
      <p:sp>
        <p:nvSpPr>
          <p:cNvPr id="328" name="Google Shape;328;p12"/>
          <p:cNvSpPr/>
          <p:nvPr/>
        </p:nvSpPr>
        <p:spPr>
          <a:xfrm>
            <a:off x="548640" y="5623560"/>
            <a:ext cx="11064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1" lang="en-US" sz="1300" u="none" cap="none" strike="noStrike">
                <a:solidFill>
                  <a:srgbClr val="1E2761"/>
                </a:solidFill>
                <a:latin typeface="Calibri"/>
                <a:ea typeface="Calibri"/>
                <a:cs typeface="Calibri"/>
                <a:sym typeface="Calibri"/>
              </a:rPr>
              <a:t>The point isn't having built 500 tests — it's having made architecture decisions that don't collapse as the suite grows.</a:t>
            </a:r>
            <a:endParaRPr b="0" i="0" sz="1300" u="none" cap="none" strike="noStrike">
              <a:solidFill>
                <a:schemeClr val="dk1"/>
              </a:solidFill>
              <a:latin typeface="Calibri"/>
              <a:ea typeface="Calibri"/>
              <a:cs typeface="Calibri"/>
              <a:sym typeface="Calibri"/>
            </a:endParaRPr>
          </a:p>
        </p:txBody>
      </p:sp>
      <p:sp>
        <p:nvSpPr>
          <p:cNvPr id="329" name="Google Shape;329;p12"/>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330" name="Google Shape;330;p12"/>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35" name="Shape 335"/>
        <p:cNvGrpSpPr/>
        <p:nvPr/>
      </p:nvGrpSpPr>
      <p:grpSpPr>
        <a:xfrm>
          <a:off x="0" y="0"/>
          <a:ext cx="0" cy="0"/>
          <a:chOff x="0" y="0"/>
          <a:chExt cx="0" cy="0"/>
        </a:xfrm>
      </p:grpSpPr>
      <p:sp>
        <p:nvSpPr>
          <p:cNvPr id="336" name="Google Shape;336;p13"/>
          <p:cNvSpPr/>
          <p:nvPr/>
        </p:nvSpPr>
        <p:spPr>
          <a:xfrm>
            <a:off x="-1463040" y="-1645920"/>
            <a:ext cx="4572000" cy="4572000"/>
          </a:xfrm>
          <a:prstGeom prst="ellipse">
            <a:avLst/>
          </a:prstGeom>
          <a:solidFill>
            <a:srgbClr val="2637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a:off x="822960" y="777240"/>
            <a:ext cx="914400" cy="914400"/>
          </a:xfrm>
          <a:prstGeom prst="ellipse">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handshake_1E2761.png" id="338" name="Google Shape;338;p13"/>
          <p:cNvPicPr preferRelativeResize="0"/>
          <p:nvPr/>
        </p:nvPicPr>
        <p:blipFill rotWithShape="1">
          <a:blip r:embed="rId3">
            <a:alphaModFix/>
          </a:blip>
          <a:srcRect b="0" l="0" r="0" t="0"/>
          <a:stretch/>
        </p:blipFill>
        <p:spPr>
          <a:xfrm>
            <a:off x="1060704" y="1014984"/>
            <a:ext cx="438912" cy="438912"/>
          </a:xfrm>
          <a:prstGeom prst="rect">
            <a:avLst/>
          </a:prstGeom>
          <a:noFill/>
          <a:ln>
            <a:noFill/>
          </a:ln>
        </p:spPr>
      </p:pic>
      <p:sp>
        <p:nvSpPr>
          <p:cNvPr id="339" name="Google Shape;339;p13"/>
          <p:cNvSpPr/>
          <p:nvPr/>
        </p:nvSpPr>
        <p:spPr>
          <a:xfrm>
            <a:off x="822960" y="182880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11"/>
              </a:buClr>
              <a:buSzPts val="1300"/>
              <a:buFont typeface="Calibri"/>
              <a:buNone/>
            </a:pPr>
            <a:r>
              <a:rPr b="1" i="0" lang="en-US" sz="1300" u="none" cap="none" strike="noStrike">
                <a:solidFill>
                  <a:srgbClr val="990011"/>
                </a:solidFill>
                <a:latin typeface="Calibri"/>
                <a:ea typeface="Calibri"/>
                <a:cs typeface="Calibri"/>
                <a:sym typeface="Calibri"/>
              </a:rPr>
              <a:t>Strategy</a:t>
            </a:r>
            <a:endParaRPr b="0" i="0" sz="1300" u="none" cap="none" strike="noStrike">
              <a:solidFill>
                <a:schemeClr val="dk1"/>
              </a:solidFill>
              <a:latin typeface="Calibri"/>
              <a:ea typeface="Calibri"/>
              <a:cs typeface="Calibri"/>
              <a:sym typeface="Calibri"/>
            </a:endParaRPr>
          </a:p>
        </p:txBody>
      </p:sp>
      <p:sp>
        <p:nvSpPr>
          <p:cNvPr id="340" name="Google Shape;340;p13"/>
          <p:cNvSpPr/>
          <p:nvPr/>
        </p:nvSpPr>
        <p:spPr>
          <a:xfrm>
            <a:off x="822960" y="2194560"/>
            <a:ext cx="9601200" cy="137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Complements manual testing,</a:t>
            </a:r>
            <a:endParaRPr b="0" i="0" sz="3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it doesn't replace it</a:t>
            </a:r>
            <a:endParaRPr b="0" i="0" sz="3200" u="none" cap="none" strike="noStrike">
              <a:solidFill>
                <a:schemeClr val="dk1"/>
              </a:solidFill>
              <a:latin typeface="Calibri"/>
              <a:ea typeface="Calibri"/>
              <a:cs typeface="Calibri"/>
              <a:sym typeface="Calibri"/>
            </a:endParaRPr>
          </a:p>
        </p:txBody>
      </p:sp>
      <p:sp>
        <p:nvSpPr>
          <p:cNvPr id="341" name="Google Shape;341;p13"/>
          <p:cNvSpPr/>
          <p:nvPr/>
        </p:nvSpPr>
        <p:spPr>
          <a:xfrm>
            <a:off x="822960" y="3749040"/>
            <a:ext cx="10241280" cy="2377440"/>
          </a:xfrm>
          <a:prstGeom prst="rect">
            <a:avLst/>
          </a:prstGeom>
          <a:noFill/>
          <a:ln>
            <a:noFill/>
          </a:ln>
        </p:spPr>
        <p:txBody>
          <a:bodyPr anchorCtr="0" anchor="ctr" bIns="0" lIns="0" spcFirstLastPara="1" rIns="0" wrap="square" tIns="0">
            <a:noAutofit/>
          </a:bodyPr>
          <a:lstStyle/>
          <a:p>
            <a:pPr indent="-342900" lvl="0" marL="342900" marR="0" rtl="0" algn="l">
              <a:lnSpc>
                <a:spcPct val="120000"/>
              </a:lnSpc>
              <a:spcBef>
                <a:spcPts val="0"/>
              </a:spcBef>
              <a:spcAft>
                <a:spcPts val="0"/>
              </a:spcAft>
              <a:buClr>
                <a:srgbClr val="CADCFC"/>
              </a:buClr>
              <a:buSzPts val="1500"/>
              <a:buFont typeface="Calibri"/>
              <a:buChar char="•"/>
            </a:pPr>
            <a:r>
              <a:rPr b="0" i="0" lang="en-US" sz="1500" u="none" cap="none" strike="noStrike">
                <a:solidFill>
                  <a:srgbClr val="CADCFC"/>
                </a:solidFill>
                <a:latin typeface="Calibri"/>
                <a:ea typeface="Calibri"/>
                <a:cs typeface="Calibri"/>
                <a:sym typeface="Calibri"/>
              </a:rPr>
              <a:t>Automation covers fast, repeatable regression: happy path, negatives and data-driven in seconds, not hours.</a:t>
            </a:r>
            <a:endParaRPr b="0" i="0" sz="1500" u="none" cap="none" strike="noStrike">
              <a:solidFill>
                <a:schemeClr val="dk1"/>
              </a:solidFill>
              <a:latin typeface="Calibri"/>
              <a:ea typeface="Calibri"/>
              <a:cs typeface="Calibri"/>
              <a:sym typeface="Calibri"/>
            </a:endParaRPr>
          </a:p>
          <a:p>
            <a:pPr indent="-342900" lvl="0" marL="342900" marR="0" rtl="0" algn="l">
              <a:lnSpc>
                <a:spcPct val="120000"/>
              </a:lnSpc>
              <a:spcBef>
                <a:spcPts val="1400"/>
              </a:spcBef>
              <a:spcAft>
                <a:spcPts val="0"/>
              </a:spcAft>
              <a:buClr>
                <a:srgbClr val="CADCFC"/>
              </a:buClr>
              <a:buSzPts val="1500"/>
              <a:buFont typeface="Calibri"/>
              <a:buChar char="•"/>
            </a:pPr>
            <a:r>
              <a:rPr b="0" i="0" lang="en-US" sz="1500" u="none" cap="none" strike="noStrike">
                <a:solidFill>
                  <a:srgbClr val="CADCFC"/>
                </a:solidFill>
                <a:latin typeface="Calibri"/>
                <a:ea typeface="Calibri"/>
                <a:cs typeface="Calibri"/>
                <a:sym typeface="Calibri"/>
              </a:rPr>
              <a:t>Human judgment remains irreplaceable for exploratory testing, usability, and edge cases no one anticipated.</a:t>
            </a:r>
            <a:endParaRPr b="0" i="0" sz="1500" u="none" cap="none" strike="noStrike">
              <a:solidFill>
                <a:schemeClr val="dk1"/>
              </a:solidFill>
              <a:latin typeface="Calibri"/>
              <a:ea typeface="Calibri"/>
              <a:cs typeface="Calibri"/>
              <a:sym typeface="Calibri"/>
            </a:endParaRPr>
          </a:p>
          <a:p>
            <a:pPr indent="-342900" lvl="0" marL="342900" marR="0" rtl="0" algn="l">
              <a:lnSpc>
                <a:spcPct val="120000"/>
              </a:lnSpc>
              <a:spcBef>
                <a:spcPts val="1400"/>
              </a:spcBef>
              <a:spcAft>
                <a:spcPts val="0"/>
              </a:spcAft>
              <a:buClr>
                <a:srgbClr val="CADCFC"/>
              </a:buClr>
              <a:buSzPts val="1500"/>
              <a:buFont typeface="Calibri"/>
              <a:buChar char="•"/>
            </a:pPr>
            <a:r>
              <a:rPr b="0" i="0" lang="en-US" sz="1500" u="none" cap="none" strike="noStrike">
                <a:solidFill>
                  <a:srgbClr val="CADCFC"/>
                </a:solidFill>
                <a:latin typeface="Calibri"/>
                <a:ea typeface="Calibri"/>
                <a:cs typeface="Calibri"/>
                <a:sym typeface="Calibri"/>
              </a:rPr>
              <a:t>The goal isn't to eliminate manual QA — it's to free up their time for what automation can't do.</a:t>
            </a:r>
            <a:endParaRPr b="0" i="0" sz="1500" u="none" cap="none" strike="noStrike">
              <a:solidFill>
                <a:schemeClr val="dk1"/>
              </a:solidFill>
              <a:latin typeface="Calibri"/>
              <a:ea typeface="Calibri"/>
              <a:cs typeface="Calibri"/>
              <a:sym typeface="Calibri"/>
            </a:endParaRPr>
          </a:p>
        </p:txBody>
      </p:sp>
      <p:sp>
        <p:nvSpPr>
          <p:cNvPr id="342" name="Google Shape;342;p13"/>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9BD9"/>
              </a:buClr>
              <a:buSzPts val="1000"/>
              <a:buFont typeface="Calibri"/>
              <a:buNone/>
            </a:pPr>
            <a:r>
              <a:rPr b="0" i="0" lang="en-US" sz="1000" u="none" cap="none" strike="noStrike">
                <a:solidFill>
                  <a:srgbClr val="8C9BD9"/>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343" name="Google Shape;343;p13"/>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9BD9"/>
              </a:buClr>
              <a:buSzPts val="1000"/>
              <a:buFont typeface="Calibri"/>
              <a:buNone/>
            </a:pPr>
            <a:r>
              <a:rPr b="0" i="0" lang="en-US" sz="1000" u="none" cap="none" strike="noStrike">
                <a:solidFill>
                  <a:srgbClr val="8C9BD9"/>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48" name="Shape 348"/>
        <p:cNvGrpSpPr/>
        <p:nvPr/>
      </p:nvGrpSpPr>
      <p:grpSpPr>
        <a:xfrm>
          <a:off x="0" y="0"/>
          <a:ext cx="0" cy="0"/>
          <a:chOff x="0" y="0"/>
          <a:chExt cx="0" cy="0"/>
        </a:xfrm>
      </p:grpSpPr>
      <p:sp>
        <p:nvSpPr>
          <p:cNvPr id="349" name="Google Shape;349;p14"/>
          <p:cNvSpPr/>
          <p:nvPr/>
        </p:nvSpPr>
        <p:spPr>
          <a:xfrm>
            <a:off x="8778240" y="4023360"/>
            <a:ext cx="4754880" cy="4754880"/>
          </a:xfrm>
          <a:prstGeom prst="ellipse">
            <a:avLst/>
          </a:prstGeom>
          <a:solidFill>
            <a:srgbClr val="2637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4"/>
          <p:cNvSpPr/>
          <p:nvPr/>
        </p:nvSpPr>
        <p:spPr>
          <a:xfrm>
            <a:off x="-1645920" y="-1828800"/>
            <a:ext cx="4206240" cy="4206240"/>
          </a:xfrm>
          <a:prstGeom prst="ellipse">
            <a:avLst/>
          </a:prstGeom>
          <a:solidFill>
            <a:srgbClr val="1820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4"/>
          <p:cNvSpPr/>
          <p:nvPr/>
        </p:nvSpPr>
        <p:spPr>
          <a:xfrm>
            <a:off x="5577840" y="1874520"/>
            <a:ext cx="1005840" cy="1005840"/>
          </a:xfrm>
          <a:prstGeom prst="ellipse">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handshake_1E2761.png" id="352" name="Google Shape;352;p14"/>
          <p:cNvPicPr preferRelativeResize="0"/>
          <p:nvPr/>
        </p:nvPicPr>
        <p:blipFill rotWithShape="1">
          <a:blip r:embed="rId3">
            <a:alphaModFix/>
          </a:blip>
          <a:srcRect b="0" l="0" r="0" t="0"/>
          <a:stretch/>
        </p:blipFill>
        <p:spPr>
          <a:xfrm>
            <a:off x="5839358" y="2136038"/>
            <a:ext cx="482803" cy="482803"/>
          </a:xfrm>
          <a:prstGeom prst="rect">
            <a:avLst/>
          </a:prstGeom>
          <a:noFill/>
          <a:ln>
            <a:noFill/>
          </a:ln>
        </p:spPr>
      </p:pic>
      <p:sp>
        <p:nvSpPr>
          <p:cNvPr id="353" name="Google Shape;353;p14"/>
          <p:cNvSpPr/>
          <p:nvPr/>
        </p:nvSpPr>
        <p:spPr>
          <a:xfrm>
            <a:off x="0" y="3108960"/>
            <a:ext cx="12161520"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Thank you</a:t>
            </a:r>
            <a:endParaRPr b="0" i="0" sz="4600" u="none" cap="none" strike="noStrike">
              <a:solidFill>
                <a:schemeClr val="dk1"/>
              </a:solidFill>
              <a:latin typeface="Calibri"/>
              <a:ea typeface="Calibri"/>
              <a:cs typeface="Calibri"/>
              <a:sym typeface="Calibri"/>
            </a:endParaRPr>
          </a:p>
        </p:txBody>
      </p:sp>
      <p:sp>
        <p:nvSpPr>
          <p:cNvPr id="354" name="Google Shape;354;p14"/>
          <p:cNvSpPr/>
          <p:nvPr/>
        </p:nvSpPr>
        <p:spPr>
          <a:xfrm>
            <a:off x="0" y="3977640"/>
            <a:ext cx="121615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2400"/>
              <a:buFont typeface="Cambria"/>
              <a:buNone/>
            </a:pPr>
            <a:r>
              <a:rPr b="0" i="1" lang="en-US" sz="2400" u="none" cap="none" strike="noStrike">
                <a:solidFill>
                  <a:srgbClr val="CADCFC"/>
                </a:solidFill>
                <a:latin typeface="Cambria"/>
                <a:ea typeface="Cambria"/>
                <a:cs typeface="Cambria"/>
                <a:sym typeface="Cambria"/>
              </a:rPr>
              <a:t>Questions?</a:t>
            </a:r>
            <a:endParaRPr b="0" i="0" sz="2400" u="none" cap="none" strike="noStrike">
              <a:solidFill>
                <a:schemeClr val="dk1"/>
              </a:solidFill>
              <a:latin typeface="Calibri"/>
              <a:ea typeface="Calibri"/>
              <a:cs typeface="Calibri"/>
              <a:sym typeface="Calibri"/>
            </a:endParaRPr>
          </a:p>
        </p:txBody>
      </p:sp>
      <p:cxnSp>
        <p:nvCxnSpPr>
          <p:cNvPr id="355" name="Google Shape;355;p14"/>
          <p:cNvCxnSpPr/>
          <p:nvPr/>
        </p:nvCxnSpPr>
        <p:spPr>
          <a:xfrm>
            <a:off x="4983480" y="4892040"/>
            <a:ext cx="2194560" cy="0"/>
          </a:xfrm>
          <a:prstGeom prst="straightConnector1">
            <a:avLst/>
          </a:prstGeom>
          <a:noFill/>
          <a:ln cap="flat" cmpd="sng" w="12700">
            <a:solidFill>
              <a:srgbClr val="3A4A8F"/>
            </a:solidFill>
            <a:prstDash val="solid"/>
            <a:round/>
            <a:headEnd len="sm" w="sm" type="none"/>
            <a:tailEnd len="sm" w="sm" type="none"/>
          </a:ln>
        </p:spPr>
      </p:cxnSp>
      <p:sp>
        <p:nvSpPr>
          <p:cNvPr id="356" name="Google Shape;356;p14"/>
          <p:cNvSpPr/>
          <p:nvPr/>
        </p:nvSpPr>
        <p:spPr>
          <a:xfrm>
            <a:off x="0" y="5074920"/>
            <a:ext cx="121615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C9BD9"/>
              </a:buClr>
              <a:buSzPts val="1300"/>
              <a:buFont typeface="Calibri"/>
              <a:buNone/>
            </a:pPr>
            <a:r>
              <a:rPr lang="en-US" sz="1300">
                <a:solidFill>
                  <a:srgbClr val="8C9BD9"/>
                </a:solidFill>
                <a:latin typeface="Calibri"/>
                <a:ea typeface="Calibri"/>
                <a:cs typeface="Calibri"/>
                <a:sym typeface="Calibri"/>
              </a:rPr>
              <a:t>I</a:t>
            </a:r>
            <a:r>
              <a:rPr b="0" i="0" lang="en-US" sz="1300" u="none" cap="none" strike="noStrike">
                <a:solidFill>
                  <a:srgbClr val="8C9BD9"/>
                </a:solidFill>
                <a:latin typeface="Calibri"/>
                <a:ea typeface="Calibri"/>
                <a:cs typeface="Calibri"/>
                <a:sym typeface="Calibri"/>
              </a:rPr>
              <a:t>'d love to hear your questions and feedback.</a:t>
            </a:r>
            <a:endParaRPr b="0" i="0" sz="1300" u="none" cap="none" strike="noStrike">
              <a:solidFill>
                <a:schemeClr val="dk1"/>
              </a:solidFill>
              <a:latin typeface="Calibri"/>
              <a:ea typeface="Calibri"/>
              <a:cs typeface="Calibri"/>
              <a:sym typeface="Calibri"/>
            </a:endParaRPr>
          </a:p>
        </p:txBody>
      </p:sp>
      <p:sp>
        <p:nvSpPr>
          <p:cNvPr id="357" name="Google Shape;357;p14"/>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9BD9"/>
              </a:buClr>
              <a:buSzPts val="1000"/>
              <a:buFont typeface="Calibri"/>
              <a:buNone/>
            </a:pPr>
            <a:r>
              <a:rPr b="0" i="0" lang="en-US" sz="1000" u="none" cap="none" strike="noStrike">
                <a:solidFill>
                  <a:srgbClr val="8C9BD9"/>
                </a:solidFill>
                <a:latin typeface="Calibri"/>
                <a:ea typeface="Calibri"/>
                <a:cs typeface="Calibri"/>
                <a:sym typeface="Calibri"/>
              </a:rPr>
              <a:t>SauceDemo QA · Technical Defense</a:t>
            </a:r>
            <a:endParaRPr b="0" i="0" sz="1000" u="none" cap="none" strike="noStrike">
              <a:solidFill>
                <a:schemeClr val="dk1"/>
              </a:solidFill>
              <a:latin typeface="Calibri"/>
              <a:ea typeface="Calibri"/>
              <a:cs typeface="Calibri"/>
              <a:sym typeface="Calibri"/>
            </a:endParaRPr>
          </a:p>
        </p:txBody>
      </p:sp>
      <p:sp>
        <p:nvSpPr>
          <p:cNvPr id="358" name="Google Shape;358;p14"/>
          <p:cNvSpPr/>
          <p:nvPr/>
        </p:nvSpPr>
        <p:spPr>
          <a:xfrm>
            <a:off x="11430000" y="65379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9BD9"/>
              </a:buClr>
              <a:buSzPts val="1000"/>
              <a:buFont typeface="Calibri"/>
              <a:buNone/>
            </a:pPr>
            <a:r>
              <a:rPr b="0" i="0" lang="en-US" sz="1000" u="none" cap="none" strike="noStrike">
                <a:solidFill>
                  <a:srgbClr val="8C9BD9"/>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2026-07-27T15:28:17Z</dcterms:created>
  <dc:creator>PptxGenJS</dc:creator>
</cp:coreProperties>
</file>